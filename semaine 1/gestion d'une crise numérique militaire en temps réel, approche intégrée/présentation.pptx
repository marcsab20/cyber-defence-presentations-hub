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03" r:id="rId1"/>
  </p:sldMasterIdLst>
  <p:notesMasterIdLst>
    <p:notesMasterId r:id="rId17"/>
  </p:notesMasterIdLst>
  <p:sldIdLst>
    <p:sldId id="256" r:id="rId2"/>
    <p:sldId id="257" r:id="rId3"/>
    <p:sldId id="258" r:id="rId4"/>
    <p:sldId id="259" r:id="rId5"/>
    <p:sldId id="260" r:id="rId6"/>
    <p:sldId id="268" r:id="rId7"/>
    <p:sldId id="261" r:id="rId8"/>
    <p:sldId id="262" r:id="rId9"/>
    <p:sldId id="269" r:id="rId10"/>
    <p:sldId id="263" r:id="rId11"/>
    <p:sldId id="264" r:id="rId12"/>
    <p:sldId id="265" r:id="rId13"/>
    <p:sldId id="267" r:id="rId14"/>
    <p:sldId id="266"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91" d="100"/>
          <a:sy n="91" d="100"/>
        </p:scale>
        <p:origin x="322" y="6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CF388C-484C-4060-88BE-2AAF9E9CF21F}" type="datetimeFigureOut">
              <a:rPr lang="fr-FR" smtClean="0"/>
              <a:t>26/01/2026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8B90C0A-2352-4E33-B546-7956340CEACF}" type="slidenum">
              <a:rPr lang="fr-FR" smtClean="0"/>
              <a:t>‹N°›</a:t>
            </a:fld>
            <a:endParaRPr lang="fr-FR"/>
          </a:p>
        </p:txBody>
      </p:sp>
    </p:spTree>
    <p:extLst>
      <p:ext uri="{BB962C8B-B14F-4D97-AF65-F5344CB8AC3E}">
        <p14:creationId xmlns:p14="http://schemas.microsoft.com/office/powerpoint/2010/main" val="39965049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fr-FR"/>
              <a:t>Modifiez le style du titre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E27C5DE6-6A31-4088-B442-2CEA2CC1D7BA}" type="datetime1">
              <a:rPr lang="fr-FR" smtClean="0"/>
              <a:t>26/01/2026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C4AF52E9-3E9B-4A4D-861E-9A50039B3D29}" type="slidenum">
              <a:rPr lang="fr-FR" smtClean="0"/>
              <a:t>‹N°›</a:t>
            </a:fld>
            <a:endParaRPr lang="fr-FR"/>
          </a:p>
        </p:txBody>
      </p:sp>
    </p:spTree>
    <p:extLst>
      <p:ext uri="{BB962C8B-B14F-4D97-AF65-F5344CB8AC3E}">
        <p14:creationId xmlns:p14="http://schemas.microsoft.com/office/powerpoint/2010/main" val="7082369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811382A1-E6B1-45B0-8867-E03C56E6D568}" type="datetime1">
              <a:rPr lang="fr-FR" smtClean="0"/>
              <a:t>26/01/2026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C4AF52E9-3E9B-4A4D-861E-9A50039B3D29}" type="slidenum">
              <a:rPr lang="fr-FR" smtClean="0"/>
              <a:t>‹N°›</a:t>
            </a:fld>
            <a:endParaRPr lang="fr-FR"/>
          </a:p>
        </p:txBody>
      </p:sp>
    </p:spTree>
    <p:extLst>
      <p:ext uri="{BB962C8B-B14F-4D97-AF65-F5344CB8AC3E}">
        <p14:creationId xmlns:p14="http://schemas.microsoft.com/office/powerpoint/2010/main" val="1982737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fr-FR"/>
              <a:t>Modifiez le style du titre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ED68D379-563C-43A3-9822-26D0A72161FD}" type="datetime1">
              <a:rPr lang="fr-FR" smtClean="0"/>
              <a:t>26/01/2026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C4AF52E9-3E9B-4A4D-861E-9A50039B3D29}" type="slidenum">
              <a:rPr lang="fr-FR" smtClean="0"/>
              <a:t>‹N°›</a:t>
            </a:fld>
            <a:endParaRPr lang="fr-FR"/>
          </a:p>
        </p:txBody>
      </p:sp>
    </p:spTree>
    <p:extLst>
      <p:ext uri="{BB962C8B-B14F-4D97-AF65-F5344CB8AC3E}">
        <p14:creationId xmlns:p14="http://schemas.microsoft.com/office/powerpoint/2010/main" val="37475687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258BB0BD-6104-4936-986C-F61AE77D474B}" type="datetime1">
              <a:rPr lang="fr-FR" smtClean="0"/>
              <a:t>26/01/2026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C4AF52E9-3E9B-4A4D-861E-9A50039B3D29}" type="slidenum">
              <a:rPr lang="fr-FR" smtClean="0"/>
              <a:t>‹N°›</a:t>
            </a:fld>
            <a:endParaRPr lang="fr-FR"/>
          </a:p>
        </p:txBody>
      </p:sp>
    </p:spTree>
    <p:extLst>
      <p:ext uri="{BB962C8B-B14F-4D97-AF65-F5344CB8AC3E}">
        <p14:creationId xmlns:p14="http://schemas.microsoft.com/office/powerpoint/2010/main" val="13262231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a:t>Modifiez le style du titre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9459CB4F-7511-4C98-81EC-4667166CFAE8}" type="datetime1">
              <a:rPr lang="fr-FR" smtClean="0"/>
              <a:t>26/01/2026</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C4AF52E9-3E9B-4A4D-861E-9A50039B3D29}" type="slidenum">
              <a:rPr lang="fr-FR" smtClean="0"/>
              <a:t>‹N°›</a:t>
            </a:fld>
            <a:endParaRPr lang="fr-FR"/>
          </a:p>
        </p:txBody>
      </p:sp>
    </p:spTree>
    <p:extLst>
      <p:ext uri="{BB962C8B-B14F-4D97-AF65-F5344CB8AC3E}">
        <p14:creationId xmlns:p14="http://schemas.microsoft.com/office/powerpoint/2010/main" val="26731758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EE0616DB-D375-4C47-8D28-1F3B97F42053}" type="datetime1">
              <a:rPr lang="fr-FR" smtClean="0"/>
              <a:t>26/01/2026</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C4AF52E9-3E9B-4A4D-861E-9A50039B3D29}" type="slidenum">
              <a:rPr lang="fr-FR" smtClean="0"/>
              <a:t>‹N°›</a:t>
            </a:fld>
            <a:endParaRPr lang="fr-FR"/>
          </a:p>
        </p:txBody>
      </p:sp>
    </p:spTree>
    <p:extLst>
      <p:ext uri="{BB962C8B-B14F-4D97-AF65-F5344CB8AC3E}">
        <p14:creationId xmlns:p14="http://schemas.microsoft.com/office/powerpoint/2010/main" val="9825048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F2082D5-7309-4F6D-BAC8-B48B52107A00}" type="datetime1">
              <a:rPr lang="fr-FR" smtClean="0"/>
              <a:t>26/01/2026</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C4AF52E9-3E9B-4A4D-861E-9A50039B3D29}" type="slidenum">
              <a:rPr lang="fr-FR" smtClean="0"/>
              <a:t>‹N°›</a:t>
            </a:fld>
            <a:endParaRPr lang="fr-FR"/>
          </a:p>
        </p:txBody>
      </p:sp>
    </p:spTree>
    <p:extLst>
      <p:ext uri="{BB962C8B-B14F-4D97-AF65-F5344CB8AC3E}">
        <p14:creationId xmlns:p14="http://schemas.microsoft.com/office/powerpoint/2010/main" val="18436662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fr-FR"/>
              <a:t>Modifiez le style du titre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44276A4E-E963-4BC2-B136-553C48BD5701}" type="datetime1">
              <a:rPr lang="fr-FR" smtClean="0"/>
              <a:t>26/01/2026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C4AF52E9-3E9B-4A4D-861E-9A50039B3D29}" type="slidenum">
              <a:rPr lang="fr-FR" smtClean="0"/>
              <a:t>‹N°›</a:t>
            </a:fld>
            <a:endParaRPr lang="fr-FR"/>
          </a:p>
        </p:txBody>
      </p:sp>
    </p:spTree>
    <p:extLst>
      <p:ext uri="{BB962C8B-B14F-4D97-AF65-F5344CB8AC3E}">
        <p14:creationId xmlns:p14="http://schemas.microsoft.com/office/powerpoint/2010/main" val="21353755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fr-FR"/>
              <a:t>Modifiez le style du titre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E17E4FA6-4842-48C5-9118-9CB0971F3A3E}" type="datetime1">
              <a:rPr lang="fr-FR" smtClean="0"/>
              <a:t>26/01/2026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C4AF52E9-3E9B-4A4D-861E-9A50039B3D29}" type="slidenum">
              <a:rPr lang="fr-FR" smtClean="0"/>
              <a:t>‹N°›</a:t>
            </a:fld>
            <a:endParaRPr lang="fr-FR"/>
          </a:p>
        </p:txBody>
      </p:sp>
    </p:spTree>
    <p:extLst>
      <p:ext uri="{BB962C8B-B14F-4D97-AF65-F5344CB8AC3E}">
        <p14:creationId xmlns:p14="http://schemas.microsoft.com/office/powerpoint/2010/main" val="29873594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fr-FR"/>
              <a:t>Modifiez le style du titre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11D870EF-DE11-4D88-9EB1-828F66022058}" type="datetime1">
              <a:rPr lang="fr-FR" smtClean="0"/>
              <a:t>26/01/2026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C4AF52E9-3E9B-4A4D-861E-9A50039B3D29}" type="slidenum">
              <a:rPr lang="fr-FR" smtClean="0"/>
              <a:t>‹N°›</a:t>
            </a:fld>
            <a:endParaRPr lang="fr-FR"/>
          </a:p>
        </p:txBody>
      </p:sp>
    </p:spTree>
    <p:extLst>
      <p:ext uri="{BB962C8B-B14F-4D97-AF65-F5344CB8AC3E}">
        <p14:creationId xmlns:p14="http://schemas.microsoft.com/office/powerpoint/2010/main" val="16170466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fr-FR"/>
              <a:t>Modifiez le style du titre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A3D982CB-044E-4B63-B16F-6A8B79D2F53B}" type="datetime1">
              <a:rPr lang="fr-FR" smtClean="0"/>
              <a:t>26/01/2026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C4AF52E9-3E9B-4A4D-861E-9A50039B3D29}" type="slidenum">
              <a:rPr lang="fr-FR" smtClean="0"/>
              <a:t>‹N°›</a:t>
            </a:fld>
            <a:endParaRPr lang="fr-FR"/>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3636432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fr-FR"/>
              <a:t>Modifiez le style du titre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1F6286BB-2BB4-47A0-BD8A-330A6FB6A9B0}" type="datetime1">
              <a:rPr lang="fr-FR" smtClean="0"/>
              <a:t>26/01/2026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C4AF52E9-3E9B-4A4D-861E-9A50039B3D29}" type="slidenum">
              <a:rPr lang="fr-FR" smtClean="0"/>
              <a:t>‹N°›</a:t>
            </a:fld>
            <a:endParaRPr lang="fr-FR"/>
          </a:p>
        </p:txBody>
      </p:sp>
    </p:spTree>
    <p:extLst>
      <p:ext uri="{BB962C8B-B14F-4D97-AF65-F5344CB8AC3E}">
        <p14:creationId xmlns:p14="http://schemas.microsoft.com/office/powerpoint/2010/main" val="35836486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fr-FR"/>
              <a:t>Modifiez le style du titre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5F5AA47D-7D42-4A70-834C-EDE211BD1445}" type="datetime1">
              <a:rPr lang="fr-FR" smtClean="0"/>
              <a:t>26/01/2026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C4AF52E9-3E9B-4A4D-861E-9A50039B3D29}" type="slidenum">
              <a:rPr lang="fr-FR" smtClean="0"/>
              <a:t>‹N°›</a:t>
            </a:fld>
            <a:endParaRPr lang="fr-FR"/>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8392050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fr-FR"/>
              <a:t>Modifiez le style du titre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4711B55E-64B4-428A-8BC1-1D4095EAD84A}" type="datetime1">
              <a:rPr lang="fr-FR" smtClean="0"/>
              <a:t>26/01/2026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C4AF52E9-3E9B-4A4D-861E-9A50039B3D29}" type="slidenum">
              <a:rPr lang="fr-FR" smtClean="0"/>
              <a:t>‹N°›</a:t>
            </a:fld>
            <a:endParaRPr lang="fr-FR"/>
          </a:p>
        </p:txBody>
      </p:sp>
    </p:spTree>
    <p:extLst>
      <p:ext uri="{BB962C8B-B14F-4D97-AF65-F5344CB8AC3E}">
        <p14:creationId xmlns:p14="http://schemas.microsoft.com/office/powerpoint/2010/main" val="24644975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BEEED743-E48A-410C-A2EE-0E3BB7301DDA}" type="datetime1">
              <a:rPr lang="fr-FR" smtClean="0"/>
              <a:t>26/01/2026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C4AF52E9-3E9B-4A4D-861E-9A50039B3D29}" type="slidenum">
              <a:rPr lang="fr-FR" smtClean="0"/>
              <a:t>‹N°›</a:t>
            </a:fld>
            <a:endParaRPr lang="fr-FR"/>
          </a:p>
        </p:txBody>
      </p:sp>
    </p:spTree>
    <p:extLst>
      <p:ext uri="{BB962C8B-B14F-4D97-AF65-F5344CB8AC3E}">
        <p14:creationId xmlns:p14="http://schemas.microsoft.com/office/powerpoint/2010/main" val="12021357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fr-FR"/>
              <a:t>Modifiez le style du titre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20A4E8E3-4804-474A-8A7B-A09196710B6C}" type="datetime1">
              <a:rPr lang="fr-FR" smtClean="0"/>
              <a:t>26/01/2026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C4AF52E9-3E9B-4A4D-861E-9A50039B3D29}" type="slidenum">
              <a:rPr lang="fr-FR" smtClean="0"/>
              <a:t>‹N°›</a:t>
            </a:fld>
            <a:endParaRPr lang="fr-FR"/>
          </a:p>
        </p:txBody>
      </p:sp>
    </p:spTree>
    <p:extLst>
      <p:ext uri="{BB962C8B-B14F-4D97-AF65-F5344CB8AC3E}">
        <p14:creationId xmlns:p14="http://schemas.microsoft.com/office/powerpoint/2010/main" val="8268927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fr-FR"/>
              <a:t>Modifiez le style du titre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9E20DA0F-A620-4174-9600-34D291F90A4B}" type="datetime1">
              <a:rPr lang="fr-FR" smtClean="0"/>
              <a:t>26/01/2026</a:t>
            </a:fld>
            <a:endParaRPr lang="fr-FR"/>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fr-FR"/>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C4AF52E9-3E9B-4A4D-861E-9A50039B3D29}" type="slidenum">
              <a:rPr lang="fr-FR" smtClean="0"/>
              <a:t>‹N°›</a:t>
            </a:fld>
            <a:endParaRPr lang="fr-FR"/>
          </a:p>
        </p:txBody>
      </p:sp>
    </p:spTree>
    <p:extLst>
      <p:ext uri="{BB962C8B-B14F-4D97-AF65-F5344CB8AC3E}">
        <p14:creationId xmlns:p14="http://schemas.microsoft.com/office/powerpoint/2010/main" val="3015376575"/>
      </p:ext>
    </p:extLst>
  </p:cSld>
  <p:clrMap bg1="lt1" tx1="dk1" bg2="lt2" tx2="dk2" accent1="accent1" accent2="accent2" accent3="accent3" accent4="accent4" accent5="accent5" accent6="accent6" hlink="hlink" folHlink="folHlink"/>
  <p:sldLayoutIdLst>
    <p:sldLayoutId id="2147483904" r:id="rId1"/>
    <p:sldLayoutId id="2147483905" r:id="rId2"/>
    <p:sldLayoutId id="2147483906" r:id="rId3"/>
    <p:sldLayoutId id="2147483907" r:id="rId4"/>
    <p:sldLayoutId id="2147483908" r:id="rId5"/>
    <p:sldLayoutId id="2147483909" r:id="rId6"/>
    <p:sldLayoutId id="2147483910" r:id="rId7"/>
    <p:sldLayoutId id="2147483911" r:id="rId8"/>
    <p:sldLayoutId id="2147483912" r:id="rId9"/>
    <p:sldLayoutId id="2147483913" r:id="rId10"/>
    <p:sldLayoutId id="2147483914" r:id="rId11"/>
    <p:sldLayoutId id="2147483915" r:id="rId12"/>
    <p:sldLayoutId id="2147483916" r:id="rId13"/>
    <p:sldLayoutId id="2147483917" r:id="rId14"/>
    <p:sldLayoutId id="2147483918" r:id="rId15"/>
    <p:sldLayoutId id="2147483919" r:id="rId16"/>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332011" y="5143500"/>
            <a:ext cx="8364530" cy="627637"/>
          </a:xfrm>
        </p:spPr>
        <p:txBody>
          <a:bodyPr/>
          <a:lstStyle/>
          <a:p>
            <a:pPr algn="just"/>
            <a:r>
              <a:rPr lang="fr-FR" sz="3600" b="1" dirty="0">
                <a:latin typeface="Arial" panose="020B0604020202020204" pitchFamily="34" charset="0"/>
                <a:cs typeface="Arial" panose="020B0604020202020204" pitchFamily="34" charset="0"/>
              </a:rPr>
              <a:t>PRESENTATION: SGT NDI JULIETTE </a:t>
            </a:r>
          </a:p>
        </p:txBody>
      </p:sp>
      <p:sp>
        <p:nvSpPr>
          <p:cNvPr id="3" name="Sous-titre 2"/>
          <p:cNvSpPr>
            <a:spLocks noGrp="1"/>
          </p:cNvSpPr>
          <p:nvPr>
            <p:ph type="subTitle" idx="1"/>
          </p:nvPr>
        </p:nvSpPr>
        <p:spPr>
          <a:xfrm>
            <a:off x="1391564" y="1889983"/>
            <a:ext cx="7608057" cy="1757991"/>
          </a:xfrm>
        </p:spPr>
        <p:txBody>
          <a:bodyPr>
            <a:normAutofit fontScale="92500"/>
          </a:bodyPr>
          <a:lstStyle/>
          <a:p>
            <a:pPr algn="ctr"/>
            <a:r>
              <a:rPr lang="fr-FR" sz="3600" b="1" dirty="0">
                <a:solidFill>
                  <a:schemeClr val="accent4">
                    <a:lumMod val="50000"/>
                  </a:schemeClr>
                </a:solidFill>
                <a:latin typeface="Arial" panose="020B0604020202020204" pitchFamily="34" charset="0"/>
                <a:cs typeface="Arial" panose="020B0604020202020204" pitchFamily="34" charset="0"/>
              </a:rPr>
              <a:t>GESTION D’UNE CRISE NUMERIQUE MILITAIRE EN TEMPS REEL: APPROCHE  INTEGREE</a:t>
            </a:r>
          </a:p>
        </p:txBody>
      </p:sp>
      <p:sp>
        <p:nvSpPr>
          <p:cNvPr id="5" name="Espace réservé du numéro de diapositive 4">
            <a:extLst>
              <a:ext uri="{FF2B5EF4-FFF2-40B4-BE49-F238E27FC236}">
                <a16:creationId xmlns:a16="http://schemas.microsoft.com/office/drawing/2014/main" id="{91984887-7B3F-76DF-C76B-DE72C62C0653}"/>
              </a:ext>
            </a:extLst>
          </p:cNvPr>
          <p:cNvSpPr>
            <a:spLocks noGrp="1"/>
          </p:cNvSpPr>
          <p:nvPr>
            <p:ph type="sldNum" sz="quarter" idx="12"/>
          </p:nvPr>
        </p:nvSpPr>
        <p:spPr/>
        <p:txBody>
          <a:bodyPr/>
          <a:lstStyle/>
          <a:p>
            <a:fld id="{C4AF52E9-3E9B-4A4D-861E-9A50039B3D29}" type="slidenum">
              <a:rPr lang="fr-FR" sz="1600" smtClean="0">
                <a:solidFill>
                  <a:schemeClr val="tx1"/>
                </a:solidFill>
                <a:latin typeface="Arial" panose="020B0604020202020204" pitchFamily="34" charset="0"/>
                <a:cs typeface="Arial" panose="020B0604020202020204" pitchFamily="34" charset="0"/>
              </a:rPr>
              <a:t>1</a:t>
            </a:fld>
            <a:endParaRPr lang="fr-FR" sz="16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1665645"/>
      </p:ext>
    </p:extLst>
  </p:cSld>
  <p:clrMapOvr>
    <a:masterClrMapping/>
  </p:clrMapOvr>
  <p:transition spd="slow" advTm="4062">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u="sng" dirty="0"/>
              <a:t>PLAN DE L’EXPOSE</a:t>
            </a:r>
          </a:p>
        </p:txBody>
      </p:sp>
      <p:sp>
        <p:nvSpPr>
          <p:cNvPr id="3" name="Espace réservé du contenu 2"/>
          <p:cNvSpPr>
            <a:spLocks noGrp="1"/>
          </p:cNvSpPr>
          <p:nvPr>
            <p:ph idx="1"/>
          </p:nvPr>
        </p:nvSpPr>
        <p:spPr/>
        <p:txBody>
          <a:bodyPr>
            <a:normAutofit/>
          </a:bodyPr>
          <a:lstStyle/>
          <a:p>
            <a:pPr marL="0" indent="0">
              <a:buNone/>
            </a:pPr>
            <a:r>
              <a:rPr lang="fr-FR" dirty="0">
                <a:latin typeface="Arial" panose="020B0604020202020204" pitchFamily="34" charset="0"/>
                <a:cs typeface="Arial" panose="020B0604020202020204" pitchFamily="34" charset="0"/>
              </a:rPr>
              <a:t>          INTRODUCTION</a:t>
            </a:r>
          </a:p>
          <a:p>
            <a:pPr marL="571500" indent="-571500">
              <a:buFont typeface="+mj-lt"/>
              <a:buAutoNum type="romanUcPeriod"/>
            </a:pPr>
            <a:r>
              <a:rPr lang="fr-FR" dirty="0">
                <a:latin typeface="Arial" panose="020B0604020202020204" pitchFamily="34" charset="0"/>
                <a:cs typeface="Arial" panose="020B0604020202020204" pitchFamily="34" charset="0"/>
              </a:rPr>
              <a:t>COMPRENDRE LA CRISE NUMERIQUE MILITAIRE EN TEMPS REEL</a:t>
            </a:r>
          </a:p>
          <a:p>
            <a:pPr marL="571500" indent="-571500">
              <a:buFont typeface="+mj-lt"/>
              <a:buAutoNum type="romanUcPeriod"/>
            </a:pPr>
            <a:r>
              <a:rPr lang="fr-FR" dirty="0">
                <a:latin typeface="Arial" panose="020B0604020202020204" pitchFamily="34" charset="0"/>
                <a:cs typeface="Arial" panose="020B0604020202020204" pitchFamily="34" charset="0"/>
              </a:rPr>
              <a:t>LES ENJEUX MAJEURS DE LA GESTION EN TEMPS REEL</a:t>
            </a:r>
          </a:p>
          <a:p>
            <a:pPr marL="571500" indent="-571500">
              <a:buFont typeface="+mj-lt"/>
              <a:buAutoNum type="romanUcPeriod"/>
            </a:pPr>
            <a:r>
              <a:rPr lang="fr-FR" dirty="0">
                <a:latin typeface="Arial" panose="020B0604020202020204" pitchFamily="34" charset="0"/>
                <a:cs typeface="Arial" panose="020B0604020202020204" pitchFamily="34" charset="0"/>
              </a:rPr>
              <a:t>L’APPROCHE INTEGREE DANS LA GESTION D’UNE CRISE NUMERIQUE MILITAIRE</a:t>
            </a:r>
          </a:p>
          <a:p>
            <a:pPr marL="571500" indent="-571500">
              <a:buFont typeface="+mj-lt"/>
              <a:buAutoNum type="romanUcPeriod"/>
            </a:pPr>
            <a:r>
              <a:rPr lang="fr-FR" dirty="0">
                <a:latin typeface="Arial" panose="020B0604020202020204" pitchFamily="34" charset="0"/>
                <a:cs typeface="Arial" panose="020B0604020202020204" pitchFamily="34" charset="0"/>
              </a:rPr>
              <a:t>LIMITES ET DEFIS DE L’APPROCHE</a:t>
            </a:r>
          </a:p>
          <a:p>
            <a:pPr marL="0" indent="0">
              <a:buNone/>
            </a:pPr>
            <a:r>
              <a:rPr lang="fr-FR" dirty="0">
                <a:latin typeface="Arial" panose="020B0604020202020204" pitchFamily="34" charset="0"/>
                <a:cs typeface="Arial" panose="020B0604020202020204" pitchFamily="34" charset="0"/>
              </a:rPr>
              <a:t>          CONCLUSION</a:t>
            </a:r>
          </a:p>
          <a:p>
            <a:pPr marL="0" indent="0" algn="ctr">
              <a:buNone/>
            </a:pPr>
            <a:endParaRPr lang="fr-FR" dirty="0"/>
          </a:p>
        </p:txBody>
      </p:sp>
      <p:sp>
        <p:nvSpPr>
          <p:cNvPr id="4" name="Espace réservé du numéro de diapositive 3">
            <a:extLst>
              <a:ext uri="{FF2B5EF4-FFF2-40B4-BE49-F238E27FC236}">
                <a16:creationId xmlns:a16="http://schemas.microsoft.com/office/drawing/2014/main" id="{873ABA48-378D-5F7E-8EBD-A8C4FAB79CAA}"/>
              </a:ext>
            </a:extLst>
          </p:cNvPr>
          <p:cNvSpPr>
            <a:spLocks noGrp="1"/>
          </p:cNvSpPr>
          <p:nvPr>
            <p:ph type="sldNum" sz="quarter" idx="12"/>
          </p:nvPr>
        </p:nvSpPr>
        <p:spPr/>
        <p:txBody>
          <a:bodyPr/>
          <a:lstStyle/>
          <a:p>
            <a:fld id="{C4AF52E9-3E9B-4A4D-861E-9A50039B3D29}" type="slidenum">
              <a:rPr lang="fr-FR" sz="1600" smtClean="0">
                <a:solidFill>
                  <a:schemeClr val="tx1"/>
                </a:solidFill>
                <a:latin typeface="Arial" panose="020B0604020202020204" pitchFamily="34" charset="0"/>
                <a:cs typeface="Arial" panose="020B0604020202020204" pitchFamily="34" charset="0"/>
              </a:rPr>
              <a:t>2</a:t>
            </a:fld>
            <a:endParaRPr lang="fr-FR" sz="16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10659199"/>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a:t>INTRODUCTION</a:t>
            </a:r>
          </a:p>
        </p:txBody>
      </p:sp>
      <p:sp>
        <p:nvSpPr>
          <p:cNvPr id="3" name="Espace réservé du contenu 2"/>
          <p:cNvSpPr>
            <a:spLocks noGrp="1"/>
          </p:cNvSpPr>
          <p:nvPr>
            <p:ph idx="1"/>
          </p:nvPr>
        </p:nvSpPr>
        <p:spPr>
          <a:xfrm>
            <a:off x="736601" y="1731829"/>
            <a:ext cx="8596668" cy="2636971"/>
          </a:xfrm>
        </p:spPr>
        <p:txBody>
          <a:bodyPr>
            <a:normAutofit/>
          </a:bodyPr>
          <a:lstStyle/>
          <a:p>
            <a:pPr marL="0" indent="0" algn="just">
              <a:buNone/>
            </a:pPr>
            <a:r>
              <a:rPr lang="fr-FR" dirty="0">
                <a:latin typeface="Arial" panose="020B0604020202020204" pitchFamily="34" charset="0"/>
                <a:cs typeface="Arial" panose="020B0604020202020204" pitchFamily="34" charset="0"/>
              </a:rPr>
              <a:t>	Aujourd’hui, les Etats font face à des Crises Numériques Militaires caractérisées par des cyberattaques, des campagnes de désinformations et autres. Ces crises instantanées qui sont souvent invisibles et qui imposent une réactivité extrême aux décideurs militaires et politiques se distinguent par leur dimension en temps réel. Face à cela, une simple réponse technique ne suffit plus d’où la nécessité d’adopter une approche intégrée combinant dimensions stratégiques, opérationnelles , techniques et communicationnelles. Cependant , la question qui se pose est celle de savoir comment gérer efficacement une crise numérique militaire?</a:t>
            </a:r>
          </a:p>
        </p:txBody>
      </p:sp>
      <p:sp>
        <p:nvSpPr>
          <p:cNvPr id="4" name="Espace réservé du numéro de diapositive 3">
            <a:extLst>
              <a:ext uri="{FF2B5EF4-FFF2-40B4-BE49-F238E27FC236}">
                <a16:creationId xmlns:a16="http://schemas.microsoft.com/office/drawing/2014/main" id="{AF9CA2D0-EBFB-CFBB-9D2A-43B416D8255B}"/>
              </a:ext>
            </a:extLst>
          </p:cNvPr>
          <p:cNvSpPr>
            <a:spLocks noGrp="1"/>
          </p:cNvSpPr>
          <p:nvPr>
            <p:ph type="sldNum" sz="quarter" idx="12"/>
          </p:nvPr>
        </p:nvSpPr>
        <p:spPr>
          <a:xfrm>
            <a:off x="8590663" y="6065837"/>
            <a:ext cx="683339" cy="365125"/>
          </a:xfrm>
        </p:spPr>
        <p:txBody>
          <a:bodyPr/>
          <a:lstStyle/>
          <a:p>
            <a:fld id="{C4AF52E9-3E9B-4A4D-861E-9A50039B3D29}" type="slidenum">
              <a:rPr lang="fr-FR" sz="1600" smtClean="0">
                <a:solidFill>
                  <a:schemeClr val="tx1"/>
                </a:solidFill>
                <a:latin typeface="Arial" panose="020B0604020202020204" pitchFamily="34" charset="0"/>
                <a:cs typeface="Arial" panose="020B0604020202020204" pitchFamily="34" charset="0"/>
              </a:rPr>
              <a:t>3</a:t>
            </a:fld>
            <a:endParaRPr lang="fr-FR" sz="16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77116195"/>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marL="857250" indent="-857250">
              <a:buFont typeface="+mj-lt"/>
              <a:buAutoNum type="romanUcPeriod"/>
            </a:pPr>
            <a:r>
              <a:rPr lang="fr-FR" dirty="0"/>
              <a:t>COMPRENDRE LA CRISE NUMERIQUE EN TEMPS REEL</a:t>
            </a:r>
          </a:p>
        </p:txBody>
      </p:sp>
      <p:sp>
        <p:nvSpPr>
          <p:cNvPr id="3" name="Espace réservé du contenu 2"/>
          <p:cNvSpPr>
            <a:spLocks noGrp="1"/>
          </p:cNvSpPr>
          <p:nvPr>
            <p:ph idx="1"/>
          </p:nvPr>
        </p:nvSpPr>
        <p:spPr>
          <a:xfrm>
            <a:off x="677334" y="2233061"/>
            <a:ext cx="7821773" cy="3808301"/>
          </a:xfrm>
        </p:spPr>
        <p:txBody>
          <a:bodyPr>
            <a:noAutofit/>
          </a:bodyPr>
          <a:lstStyle/>
          <a:p>
            <a:pPr marL="0" indent="0">
              <a:buNone/>
            </a:pPr>
            <a:r>
              <a:rPr lang="fr-FR" dirty="0">
                <a:solidFill>
                  <a:schemeClr val="accent3">
                    <a:lumMod val="75000"/>
                  </a:schemeClr>
                </a:solidFill>
                <a:latin typeface="Arial" panose="020B0604020202020204" pitchFamily="34" charset="0"/>
                <a:cs typeface="Arial" panose="020B0604020202020204" pitchFamily="34" charset="0"/>
              </a:rPr>
              <a:t>A- Définition Et Caractéristiques</a:t>
            </a:r>
          </a:p>
          <a:p>
            <a:pPr marL="0" indent="0" algn="just">
              <a:buNone/>
            </a:pPr>
            <a:r>
              <a:rPr lang="fr-FR" dirty="0">
                <a:latin typeface="Arial" panose="020B0604020202020204" pitchFamily="34" charset="0"/>
                <a:cs typeface="Arial" panose="020B0604020202020204" pitchFamily="34" charset="0"/>
              </a:rPr>
              <a:t>      Une Crise Numérique Militaire regroupe l’ensemble des attaques ou actions hostiles menées dans le cyber espace ou dans le domaine de l’information(cyber attaques contre des systèmes militaires, attaques sur les réseaux de communication, campagne de désinformation ou manipulation de l’information);</a:t>
            </a:r>
          </a:p>
          <a:p>
            <a:pPr marL="0" indent="0" algn="just">
              <a:buNone/>
            </a:pPr>
            <a:r>
              <a:rPr lang="fr-FR" dirty="0">
                <a:latin typeface="Arial" panose="020B0604020202020204" pitchFamily="34" charset="0"/>
                <a:cs typeface="Arial" panose="020B0604020202020204" pitchFamily="34" charset="0"/>
              </a:rPr>
              <a:t>       Ce type de crise est caractérisé par:</a:t>
            </a:r>
          </a:p>
          <a:p>
            <a:pPr algn="just">
              <a:buFont typeface="Wingdings" panose="05000000000000000000" pitchFamily="2" charset="2"/>
              <a:buChar char="Ø"/>
            </a:pPr>
            <a:r>
              <a:rPr lang="fr-FR" dirty="0">
                <a:latin typeface="Arial" panose="020B0604020202020204" pitchFamily="34" charset="0"/>
                <a:cs typeface="Arial" panose="020B0604020202020204" pitchFamily="34" charset="0"/>
              </a:rPr>
              <a:t>Une rapidité d’exécution;</a:t>
            </a:r>
          </a:p>
          <a:p>
            <a:pPr algn="just">
              <a:buFont typeface="Wingdings" panose="05000000000000000000" pitchFamily="2" charset="2"/>
              <a:buChar char="Ø"/>
            </a:pPr>
            <a:r>
              <a:rPr lang="fr-FR" dirty="0">
                <a:latin typeface="Arial" panose="020B0604020202020204" pitchFamily="34" charset="0"/>
                <a:cs typeface="Arial" panose="020B0604020202020204" pitchFamily="34" charset="0"/>
              </a:rPr>
              <a:t>L’incertitude;</a:t>
            </a:r>
          </a:p>
          <a:p>
            <a:pPr algn="just">
              <a:buFont typeface="Wingdings" panose="05000000000000000000" pitchFamily="2" charset="2"/>
              <a:buChar char="Ø"/>
            </a:pPr>
            <a:r>
              <a:rPr lang="fr-FR" dirty="0">
                <a:latin typeface="Arial" panose="020B0604020202020204" pitchFamily="34" charset="0"/>
                <a:cs typeface="Arial" panose="020B0604020202020204" pitchFamily="34" charset="0"/>
              </a:rPr>
              <a:t>La forte visibilité;</a:t>
            </a:r>
          </a:p>
          <a:p>
            <a:pPr algn="just">
              <a:buFont typeface="Wingdings" panose="05000000000000000000" pitchFamily="2" charset="2"/>
              <a:buChar char="Ø"/>
            </a:pPr>
            <a:r>
              <a:rPr lang="fr-FR" dirty="0">
                <a:latin typeface="Arial" panose="020B0604020202020204" pitchFamily="34" charset="0"/>
                <a:cs typeface="Arial" panose="020B0604020202020204" pitchFamily="34" charset="0"/>
              </a:rPr>
              <a:t>L’indépendance des systèmes;</a:t>
            </a:r>
          </a:p>
        </p:txBody>
      </p:sp>
      <p:pic>
        <p:nvPicPr>
          <p:cNvPr id="5" name="Image 4">
            <a:extLst>
              <a:ext uri="{FF2B5EF4-FFF2-40B4-BE49-F238E27FC236}">
                <a16:creationId xmlns:a16="http://schemas.microsoft.com/office/drawing/2014/main" id="{C3D6A1FA-81FE-64AF-73B6-8714B64ED0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8189" y="0"/>
            <a:ext cx="3153878" cy="6858000"/>
          </a:xfrm>
          <a:prstGeom prst="rect">
            <a:avLst/>
          </a:prstGeom>
        </p:spPr>
      </p:pic>
      <p:sp>
        <p:nvSpPr>
          <p:cNvPr id="6" name="Espace réservé du numéro de diapositive 5">
            <a:extLst>
              <a:ext uri="{FF2B5EF4-FFF2-40B4-BE49-F238E27FC236}">
                <a16:creationId xmlns:a16="http://schemas.microsoft.com/office/drawing/2014/main" id="{A53C2D94-3A41-2243-644E-216337CDDC9A}"/>
              </a:ext>
            </a:extLst>
          </p:cNvPr>
          <p:cNvSpPr>
            <a:spLocks noGrp="1"/>
          </p:cNvSpPr>
          <p:nvPr>
            <p:ph type="sldNum" sz="quarter" idx="12"/>
          </p:nvPr>
        </p:nvSpPr>
        <p:spPr/>
        <p:txBody>
          <a:bodyPr/>
          <a:lstStyle/>
          <a:p>
            <a:fld id="{C4AF52E9-3E9B-4A4D-861E-9A50039B3D29}" type="slidenum">
              <a:rPr lang="fr-FR" sz="1600" smtClean="0">
                <a:solidFill>
                  <a:schemeClr val="tx1"/>
                </a:solidFill>
                <a:latin typeface="Arial" panose="020B0604020202020204" pitchFamily="34" charset="0"/>
                <a:cs typeface="Arial" panose="020B0604020202020204" pitchFamily="34" charset="0"/>
              </a:rPr>
              <a:t>4</a:t>
            </a:fld>
            <a:endParaRPr lang="fr-FR" sz="16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9539522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77334" y="163629"/>
            <a:ext cx="8459478" cy="752611"/>
          </a:xfrm>
        </p:spPr>
        <p:txBody>
          <a:bodyPr>
            <a:normAutofit/>
          </a:bodyPr>
          <a:lstStyle/>
          <a:p>
            <a:r>
              <a:rPr lang="fr-FR" sz="1800" dirty="0">
                <a:solidFill>
                  <a:schemeClr val="accent3">
                    <a:lumMod val="75000"/>
                  </a:schemeClr>
                </a:solidFill>
                <a:latin typeface="Arial" panose="020B0604020202020204" pitchFamily="34" charset="0"/>
                <a:cs typeface="Arial" panose="020B0604020202020204" pitchFamily="34" charset="0"/>
              </a:rPr>
              <a:t>B-Typologies des Crises Numériques Militaires  1/2</a:t>
            </a:r>
          </a:p>
        </p:txBody>
      </p:sp>
      <p:sp>
        <p:nvSpPr>
          <p:cNvPr id="3" name="Espace réservé du contenu 2"/>
          <p:cNvSpPr>
            <a:spLocks noGrp="1"/>
          </p:cNvSpPr>
          <p:nvPr>
            <p:ph idx="1"/>
          </p:nvPr>
        </p:nvSpPr>
        <p:spPr>
          <a:xfrm>
            <a:off x="525766" y="585086"/>
            <a:ext cx="8611046" cy="5456276"/>
          </a:xfrm>
        </p:spPr>
        <p:txBody>
          <a:bodyPr>
            <a:normAutofit/>
          </a:bodyPr>
          <a:lstStyle/>
          <a:p>
            <a:pPr marL="0" indent="0" algn="just">
              <a:buNone/>
            </a:pPr>
            <a:r>
              <a:rPr lang="fr-FR" dirty="0">
                <a:latin typeface="Arial" panose="020B0604020202020204" pitchFamily="34" charset="0"/>
                <a:cs typeface="Arial" panose="020B0604020202020204" pitchFamily="34" charset="0"/>
              </a:rPr>
              <a:t>        Les crise Numériques peuvent être classées selon leur nature, leurs objectifs et leur impact sur les forces armées, nous avons:</a:t>
            </a:r>
          </a:p>
          <a:p>
            <a:pPr algn="just">
              <a:buFont typeface="Wingdings" panose="05000000000000000000" pitchFamily="2" charset="2"/>
              <a:buChar char="Ø"/>
            </a:pPr>
            <a:r>
              <a:rPr lang="fr-FR" dirty="0">
                <a:latin typeface="Arial" panose="020B0604020202020204" pitchFamily="34" charset="0"/>
                <a:cs typeface="Arial" panose="020B0604020202020204" pitchFamily="34" charset="0"/>
              </a:rPr>
              <a:t> </a:t>
            </a:r>
            <a:r>
              <a:rPr lang="fr-FR" b="1" dirty="0">
                <a:latin typeface="Arial" panose="020B0604020202020204" pitchFamily="34" charset="0"/>
                <a:cs typeface="Arial" panose="020B0604020202020204" pitchFamily="34" charset="0"/>
              </a:rPr>
              <a:t>Les cyberattaques </a:t>
            </a:r>
            <a:r>
              <a:rPr lang="fr-FR" dirty="0">
                <a:latin typeface="Arial" panose="020B0604020202020204" pitchFamily="34" charset="0"/>
                <a:cs typeface="Arial" panose="020B0604020202020204" pitchFamily="34" charset="0"/>
              </a:rPr>
              <a:t>(paralysie des systèmes, perte de confidentialités de données, ralentissement de la prise de décisions);</a:t>
            </a:r>
          </a:p>
          <a:p>
            <a:pPr algn="just">
              <a:buFont typeface="Wingdings" panose="05000000000000000000" pitchFamily="2" charset="2"/>
              <a:buChar char="Ø"/>
            </a:pPr>
            <a:endParaRPr lang="fr-FR" dirty="0">
              <a:latin typeface="Arial" panose="020B0604020202020204" pitchFamily="34" charset="0"/>
              <a:cs typeface="Arial" panose="020B0604020202020204" pitchFamily="34" charset="0"/>
            </a:endParaRPr>
          </a:p>
          <a:p>
            <a:pPr algn="just">
              <a:buFont typeface="Wingdings" panose="05000000000000000000" pitchFamily="2" charset="2"/>
              <a:buChar char="Ø"/>
            </a:pPr>
            <a:r>
              <a:rPr lang="fr-FR" b="1" dirty="0">
                <a:latin typeface="Arial" panose="020B0604020202020204" pitchFamily="34" charset="0"/>
                <a:cs typeface="Arial" panose="020B0604020202020204" pitchFamily="34" charset="0"/>
              </a:rPr>
              <a:t>Attaques sur les communications </a:t>
            </a:r>
            <a:r>
              <a:rPr lang="fr-FR" dirty="0">
                <a:latin typeface="Arial" panose="020B0604020202020204" pitchFamily="34" charset="0"/>
                <a:cs typeface="Arial" panose="020B0604020202020204" pitchFamily="34" charset="0"/>
              </a:rPr>
              <a:t>(désorganisations des forces, retard des opérations, risque de fratricide);</a:t>
            </a:r>
          </a:p>
          <a:p>
            <a:pPr algn="just">
              <a:buFont typeface="Wingdings" panose="05000000000000000000" pitchFamily="2" charset="2"/>
              <a:buChar char="Ø"/>
            </a:pPr>
            <a:endParaRPr lang="fr-FR" dirty="0">
              <a:latin typeface="Arial" panose="020B0604020202020204" pitchFamily="34" charset="0"/>
              <a:cs typeface="Arial" panose="020B0604020202020204" pitchFamily="34" charset="0"/>
            </a:endParaRPr>
          </a:p>
          <a:p>
            <a:pPr algn="just">
              <a:buFont typeface="Wingdings" panose="05000000000000000000" pitchFamily="2" charset="2"/>
              <a:buChar char="Ø"/>
            </a:pPr>
            <a:r>
              <a:rPr lang="fr-FR" b="1" dirty="0">
                <a:latin typeface="Arial" panose="020B0604020202020204" pitchFamily="34" charset="0"/>
                <a:cs typeface="Arial" panose="020B0604020202020204" pitchFamily="34" charset="0"/>
              </a:rPr>
              <a:t>Guerre de l’information </a:t>
            </a:r>
            <a:r>
              <a:rPr lang="fr-FR" dirty="0">
                <a:latin typeface="Arial" panose="020B0604020202020204" pitchFamily="34" charset="0"/>
                <a:cs typeface="Arial" panose="020B0604020202020204" pitchFamily="34" charset="0"/>
              </a:rPr>
              <a:t>(désinformation, propagande, confusion );</a:t>
            </a:r>
          </a:p>
          <a:p>
            <a:pPr algn="just">
              <a:buFont typeface="Wingdings" panose="05000000000000000000" pitchFamily="2" charset="2"/>
              <a:buChar char="Ø"/>
            </a:pPr>
            <a:endParaRPr lang="fr-FR" dirty="0">
              <a:latin typeface="Arial" panose="020B0604020202020204" pitchFamily="34" charset="0"/>
              <a:cs typeface="Arial" panose="020B0604020202020204" pitchFamily="34" charset="0"/>
            </a:endParaRPr>
          </a:p>
          <a:p>
            <a:pPr algn="just">
              <a:buFont typeface="Wingdings" panose="05000000000000000000" pitchFamily="2" charset="2"/>
              <a:buChar char="Ø"/>
            </a:pPr>
            <a:r>
              <a:rPr lang="fr-FR" b="1" dirty="0">
                <a:latin typeface="Arial" panose="020B0604020202020204" pitchFamily="34" charset="0"/>
                <a:cs typeface="Arial" panose="020B0604020202020204" pitchFamily="34" charset="0"/>
              </a:rPr>
              <a:t>Espionnage et vol de données </a:t>
            </a:r>
            <a:r>
              <a:rPr lang="fr-FR" dirty="0">
                <a:latin typeface="Arial" panose="020B0604020202020204" pitchFamily="34" charset="0"/>
                <a:cs typeface="Arial" panose="020B0604020202020204" pitchFamily="34" charset="0"/>
              </a:rPr>
              <a:t>(vulnérabilité accrue);</a:t>
            </a:r>
          </a:p>
          <a:p>
            <a:pPr algn="just">
              <a:buFont typeface="Wingdings" panose="05000000000000000000" pitchFamily="2" charset="2"/>
              <a:buChar char="Ø"/>
            </a:pPr>
            <a:endParaRPr lang="fr-FR" dirty="0">
              <a:latin typeface="Arial" panose="020B0604020202020204" pitchFamily="34" charset="0"/>
              <a:cs typeface="Arial" panose="020B0604020202020204" pitchFamily="34" charset="0"/>
            </a:endParaRPr>
          </a:p>
          <a:p>
            <a:pPr algn="just">
              <a:buFont typeface="Wingdings" panose="05000000000000000000" pitchFamily="2" charset="2"/>
              <a:buChar char="Ø"/>
            </a:pPr>
            <a:r>
              <a:rPr lang="fr-FR" b="1" dirty="0">
                <a:latin typeface="Arial" panose="020B0604020202020204" pitchFamily="34" charset="0"/>
                <a:cs typeface="Arial" panose="020B0604020202020204" pitchFamily="34" charset="0"/>
              </a:rPr>
              <a:t>Crises hybrides et combinées </a:t>
            </a:r>
            <a:r>
              <a:rPr lang="fr-FR" dirty="0">
                <a:latin typeface="Arial" panose="020B0604020202020204" pitchFamily="34" charset="0"/>
                <a:cs typeface="Arial" panose="020B0604020202020204" pitchFamily="34" charset="0"/>
              </a:rPr>
              <a:t>(combinaisons de toutes les menaces);      </a:t>
            </a:r>
          </a:p>
        </p:txBody>
      </p:sp>
      <p:sp>
        <p:nvSpPr>
          <p:cNvPr id="4" name="Espace réservé du numéro de diapositive 3">
            <a:extLst>
              <a:ext uri="{FF2B5EF4-FFF2-40B4-BE49-F238E27FC236}">
                <a16:creationId xmlns:a16="http://schemas.microsoft.com/office/drawing/2014/main" id="{493F3D35-6519-B7ED-8564-A026C7DB7B79}"/>
              </a:ext>
            </a:extLst>
          </p:cNvPr>
          <p:cNvSpPr>
            <a:spLocks noGrp="1"/>
          </p:cNvSpPr>
          <p:nvPr>
            <p:ph type="sldNum" sz="quarter" idx="12"/>
          </p:nvPr>
        </p:nvSpPr>
        <p:spPr/>
        <p:txBody>
          <a:bodyPr/>
          <a:lstStyle/>
          <a:p>
            <a:fld id="{C4AF52E9-3E9B-4A4D-861E-9A50039B3D29}" type="slidenum">
              <a:rPr lang="fr-FR" sz="1600" smtClean="0">
                <a:solidFill>
                  <a:schemeClr val="tx1"/>
                </a:solidFill>
                <a:latin typeface="Arial" panose="020B0604020202020204" pitchFamily="34" charset="0"/>
                <a:cs typeface="Arial" panose="020B0604020202020204" pitchFamily="34" charset="0"/>
              </a:rPr>
              <a:t>5</a:t>
            </a:fld>
            <a:endParaRPr lang="fr-FR" sz="16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04485176"/>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1004174-24B5-B36F-6A8F-BDCE025ED4EF}"/>
              </a:ext>
            </a:extLst>
          </p:cNvPr>
          <p:cNvSpPr>
            <a:spLocks noGrp="1"/>
          </p:cNvSpPr>
          <p:nvPr>
            <p:ph type="title"/>
          </p:nvPr>
        </p:nvSpPr>
        <p:spPr>
          <a:xfrm>
            <a:off x="523330" y="157307"/>
            <a:ext cx="8514792" cy="1844748"/>
          </a:xfrm>
        </p:spPr>
        <p:txBody>
          <a:bodyPr>
            <a:normAutofit fontScale="90000"/>
          </a:bodyPr>
          <a:lstStyle/>
          <a:p>
            <a:r>
              <a:rPr lang="fr-FR" sz="2800" dirty="0">
                <a:solidFill>
                  <a:schemeClr val="accent3">
                    <a:lumMod val="75000"/>
                  </a:schemeClr>
                </a:solidFill>
              </a:rPr>
              <a:t>B-Typologies des Crises Numériques Militaires   </a:t>
            </a:r>
            <a:r>
              <a:rPr lang="fr-FR" sz="1300" dirty="0">
                <a:solidFill>
                  <a:schemeClr val="accent3">
                    <a:lumMod val="75000"/>
                  </a:schemeClr>
                </a:solidFill>
                <a:latin typeface="Arial" panose="020B0604020202020204" pitchFamily="34" charset="0"/>
                <a:cs typeface="Arial" panose="020B0604020202020204" pitchFamily="34" charset="0"/>
              </a:rPr>
              <a:t>2/2</a:t>
            </a:r>
            <a:br>
              <a:rPr lang="fr-FR" sz="1300" dirty="0">
                <a:solidFill>
                  <a:schemeClr val="accent3">
                    <a:lumMod val="75000"/>
                  </a:schemeClr>
                </a:solidFill>
                <a:latin typeface="Arial" panose="020B0604020202020204" pitchFamily="34" charset="0"/>
                <a:cs typeface="Arial" panose="020B0604020202020204" pitchFamily="34" charset="0"/>
              </a:rPr>
            </a:br>
            <a:br>
              <a:rPr lang="fr-FR" sz="1300" dirty="0">
                <a:solidFill>
                  <a:schemeClr val="accent3">
                    <a:lumMod val="75000"/>
                  </a:schemeClr>
                </a:solidFill>
                <a:latin typeface="Arial" panose="020B0604020202020204" pitchFamily="34" charset="0"/>
                <a:cs typeface="Arial" panose="020B0604020202020204" pitchFamily="34" charset="0"/>
              </a:rPr>
            </a:br>
            <a:br>
              <a:rPr lang="fr-FR" sz="1300" dirty="0">
                <a:solidFill>
                  <a:schemeClr val="accent3">
                    <a:lumMod val="75000"/>
                  </a:schemeClr>
                </a:solidFill>
                <a:latin typeface="Arial" panose="020B0604020202020204" pitchFamily="34" charset="0"/>
                <a:cs typeface="Arial" panose="020B0604020202020204" pitchFamily="34" charset="0"/>
              </a:rPr>
            </a:br>
            <a:br>
              <a:rPr lang="fr-FR" sz="1300" dirty="0">
                <a:solidFill>
                  <a:schemeClr val="accent3">
                    <a:lumMod val="75000"/>
                  </a:schemeClr>
                </a:solidFill>
                <a:latin typeface="Arial" panose="020B0604020202020204" pitchFamily="34" charset="0"/>
                <a:cs typeface="Arial" panose="020B0604020202020204" pitchFamily="34" charset="0"/>
              </a:rPr>
            </a:br>
            <a:br>
              <a:rPr lang="fr-FR" sz="1300" dirty="0">
                <a:solidFill>
                  <a:schemeClr val="accent3">
                    <a:lumMod val="75000"/>
                  </a:schemeClr>
                </a:solidFill>
                <a:latin typeface="Arial" panose="020B0604020202020204" pitchFamily="34" charset="0"/>
                <a:cs typeface="Arial" panose="020B0604020202020204" pitchFamily="34" charset="0"/>
              </a:rPr>
            </a:br>
            <a:br>
              <a:rPr lang="fr-FR" sz="1300" dirty="0">
                <a:solidFill>
                  <a:schemeClr val="accent3">
                    <a:lumMod val="75000"/>
                  </a:schemeClr>
                </a:solidFill>
                <a:latin typeface="Arial" panose="020B0604020202020204" pitchFamily="34" charset="0"/>
                <a:cs typeface="Arial" panose="020B0604020202020204" pitchFamily="34" charset="0"/>
              </a:rPr>
            </a:br>
            <a:br>
              <a:rPr lang="fr-FR" sz="1300" dirty="0">
                <a:solidFill>
                  <a:schemeClr val="accent3">
                    <a:lumMod val="75000"/>
                  </a:schemeClr>
                </a:solidFill>
                <a:latin typeface="Arial" panose="020B0604020202020204" pitchFamily="34" charset="0"/>
                <a:cs typeface="Arial" panose="020B0604020202020204" pitchFamily="34" charset="0"/>
              </a:rPr>
            </a:br>
            <a:r>
              <a:rPr lang="fr-FR" sz="1300" dirty="0">
                <a:solidFill>
                  <a:schemeClr val="tx1"/>
                </a:solidFill>
                <a:latin typeface="Arial" panose="020B0604020202020204" pitchFamily="34" charset="0"/>
                <a:cs typeface="Arial" panose="020B0604020202020204" pitchFamily="34" charset="0"/>
              </a:rPr>
              <a:t>                                                               </a:t>
            </a:r>
            <a:r>
              <a:rPr lang="fr-FR" sz="1800" u="sng" dirty="0">
                <a:solidFill>
                  <a:schemeClr val="tx1"/>
                </a:solidFill>
                <a:latin typeface="Arial" panose="020B0604020202020204" pitchFamily="34" charset="0"/>
                <a:cs typeface="Arial" panose="020B0604020202020204" pitchFamily="34" charset="0"/>
              </a:rPr>
              <a:t>Les types de crises numériques</a:t>
            </a:r>
            <a:endParaRPr lang="fr-FR" sz="1300" u="sng" dirty="0">
              <a:solidFill>
                <a:schemeClr val="tx1"/>
              </a:solidFill>
              <a:latin typeface="Arial" panose="020B0604020202020204" pitchFamily="34" charset="0"/>
              <a:cs typeface="Arial" panose="020B0604020202020204" pitchFamily="34" charset="0"/>
            </a:endParaRPr>
          </a:p>
        </p:txBody>
      </p:sp>
      <p:sp>
        <p:nvSpPr>
          <p:cNvPr id="4" name="Espace réservé du numéro de diapositive 3">
            <a:extLst>
              <a:ext uri="{FF2B5EF4-FFF2-40B4-BE49-F238E27FC236}">
                <a16:creationId xmlns:a16="http://schemas.microsoft.com/office/drawing/2014/main" id="{0C22614F-0907-DC87-6DAA-B6E8583BDCCC}"/>
              </a:ext>
            </a:extLst>
          </p:cNvPr>
          <p:cNvSpPr>
            <a:spLocks noGrp="1"/>
          </p:cNvSpPr>
          <p:nvPr>
            <p:ph type="sldNum" sz="quarter" idx="12"/>
          </p:nvPr>
        </p:nvSpPr>
        <p:spPr/>
        <p:txBody>
          <a:bodyPr/>
          <a:lstStyle/>
          <a:p>
            <a:fld id="{C4AF52E9-3E9B-4A4D-861E-9A50039B3D29}" type="slidenum">
              <a:rPr lang="fr-FR" sz="1600" smtClean="0">
                <a:solidFill>
                  <a:schemeClr val="tx1"/>
                </a:solidFill>
                <a:latin typeface="Arial" panose="020B0604020202020204" pitchFamily="34" charset="0"/>
                <a:cs typeface="Arial" panose="020B0604020202020204" pitchFamily="34" charset="0"/>
              </a:rPr>
              <a:t>6</a:t>
            </a:fld>
            <a:endParaRPr lang="fr-FR" sz="1600" dirty="0">
              <a:solidFill>
                <a:schemeClr val="tx1"/>
              </a:solidFill>
              <a:latin typeface="Arial" panose="020B0604020202020204" pitchFamily="34" charset="0"/>
              <a:cs typeface="Arial" panose="020B0604020202020204" pitchFamily="34" charset="0"/>
            </a:endParaRPr>
          </a:p>
        </p:txBody>
      </p:sp>
      <p:pic>
        <p:nvPicPr>
          <p:cNvPr id="6" name="Espace réservé du contenu 5">
            <a:extLst>
              <a:ext uri="{FF2B5EF4-FFF2-40B4-BE49-F238E27FC236}">
                <a16:creationId xmlns:a16="http://schemas.microsoft.com/office/drawing/2014/main" id="{BD15718B-6AFF-D95B-329A-5812CD3EC5B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93532" y="2184935"/>
            <a:ext cx="8133347" cy="3936731"/>
          </a:xfrm>
          <a:prstGeom prst="rect">
            <a:avLst/>
          </a:prstGeom>
        </p:spPr>
      </p:pic>
    </p:spTree>
    <p:extLst>
      <p:ext uri="{BB962C8B-B14F-4D97-AF65-F5344CB8AC3E}">
        <p14:creationId xmlns:p14="http://schemas.microsoft.com/office/powerpoint/2010/main" val="221341609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715E0EC-1AB6-756D-BFCF-CC5741F12C03}"/>
              </a:ext>
            </a:extLst>
          </p:cNvPr>
          <p:cNvSpPr>
            <a:spLocks noGrp="1"/>
          </p:cNvSpPr>
          <p:nvPr>
            <p:ph type="title"/>
          </p:nvPr>
        </p:nvSpPr>
        <p:spPr>
          <a:xfrm>
            <a:off x="802462" y="599975"/>
            <a:ext cx="8596668" cy="1320800"/>
          </a:xfrm>
        </p:spPr>
        <p:txBody>
          <a:bodyPr>
            <a:normAutofit/>
          </a:bodyPr>
          <a:lstStyle/>
          <a:p>
            <a:r>
              <a:rPr lang="fr-FR" sz="1800" dirty="0">
                <a:solidFill>
                  <a:schemeClr val="accent3">
                    <a:lumMod val="75000"/>
                  </a:schemeClr>
                </a:solidFill>
              </a:rPr>
              <a:t>C- Acteurs Impliqués dans les Crises Numériques Militaires</a:t>
            </a:r>
          </a:p>
        </p:txBody>
      </p:sp>
      <p:sp>
        <p:nvSpPr>
          <p:cNvPr id="3" name="Espace réservé du contenu 2">
            <a:extLst>
              <a:ext uri="{FF2B5EF4-FFF2-40B4-BE49-F238E27FC236}">
                <a16:creationId xmlns:a16="http://schemas.microsoft.com/office/drawing/2014/main" id="{5AF5FF9D-870D-9F9C-25A1-F4756EF75003}"/>
              </a:ext>
            </a:extLst>
          </p:cNvPr>
          <p:cNvSpPr>
            <a:spLocks noGrp="1"/>
          </p:cNvSpPr>
          <p:nvPr>
            <p:ph idx="1"/>
          </p:nvPr>
        </p:nvSpPr>
        <p:spPr>
          <a:xfrm>
            <a:off x="677334" y="1347537"/>
            <a:ext cx="8596668" cy="4693825"/>
          </a:xfrm>
        </p:spPr>
        <p:txBody>
          <a:bodyPr/>
          <a:lstStyle/>
          <a:p>
            <a:pPr marL="0" indent="0">
              <a:buNone/>
            </a:pPr>
            <a:r>
              <a:rPr lang="fr-FR" dirty="0"/>
              <a:t>    </a:t>
            </a:r>
            <a:r>
              <a:rPr lang="fr-FR" dirty="0">
                <a:latin typeface="Arial" panose="020B0604020202020204" pitchFamily="34" charset="0"/>
                <a:cs typeface="Arial" panose="020B0604020202020204" pitchFamily="34" charset="0"/>
              </a:rPr>
              <a:t>Dans les crises numériques militaires, on retrouve les Forces Armées, les Autorités civiles, les Opérateurs critiques et les Partenaires internationaux; tous coordonnés à différents niveaux pour répondre efficacement à la crise ,</a:t>
            </a:r>
          </a:p>
          <a:p>
            <a:pPr marL="0" indent="0">
              <a:buNone/>
            </a:pPr>
            <a:endParaRPr lang="fr-FR" dirty="0"/>
          </a:p>
        </p:txBody>
      </p:sp>
      <p:sp>
        <p:nvSpPr>
          <p:cNvPr id="4" name="Espace réservé du numéro de diapositive 3">
            <a:extLst>
              <a:ext uri="{FF2B5EF4-FFF2-40B4-BE49-F238E27FC236}">
                <a16:creationId xmlns:a16="http://schemas.microsoft.com/office/drawing/2014/main" id="{250DF96D-E493-9B72-CDF7-D94317319F83}"/>
              </a:ext>
            </a:extLst>
          </p:cNvPr>
          <p:cNvSpPr>
            <a:spLocks noGrp="1"/>
          </p:cNvSpPr>
          <p:nvPr>
            <p:ph type="sldNum" sz="quarter" idx="12"/>
          </p:nvPr>
        </p:nvSpPr>
        <p:spPr/>
        <p:txBody>
          <a:bodyPr/>
          <a:lstStyle/>
          <a:p>
            <a:fld id="{C4AF52E9-3E9B-4A4D-861E-9A50039B3D29}" type="slidenum">
              <a:rPr lang="fr-FR" sz="1600" smtClean="0">
                <a:solidFill>
                  <a:schemeClr val="tx1"/>
                </a:solidFill>
                <a:latin typeface="Arial" panose="020B0604020202020204" pitchFamily="34" charset="0"/>
                <a:cs typeface="Arial" panose="020B0604020202020204" pitchFamily="34" charset="0"/>
              </a:rPr>
              <a:t>7</a:t>
            </a:fld>
            <a:endParaRPr lang="fr-FR" sz="1600" dirty="0">
              <a:solidFill>
                <a:schemeClr val="tx1"/>
              </a:solidFill>
              <a:latin typeface="Arial" panose="020B0604020202020204" pitchFamily="34" charset="0"/>
              <a:cs typeface="Arial" panose="020B0604020202020204" pitchFamily="34" charset="0"/>
            </a:endParaRPr>
          </a:p>
        </p:txBody>
      </p:sp>
      <p:pic>
        <p:nvPicPr>
          <p:cNvPr id="8" name="Image 7">
            <a:extLst>
              <a:ext uri="{FF2B5EF4-FFF2-40B4-BE49-F238E27FC236}">
                <a16:creationId xmlns:a16="http://schemas.microsoft.com/office/drawing/2014/main" id="{033804ED-5FA4-B7B4-CB0A-D65ABE184CC4}"/>
              </a:ext>
            </a:extLst>
          </p:cNvPr>
          <p:cNvPicPr>
            <a:picLocks noChangeAspect="1"/>
          </p:cNvPicPr>
          <p:nvPr/>
        </p:nvPicPr>
        <p:blipFill>
          <a:blip r:embed="rId2">
            <a:extLst>
              <a:ext uri="{28A0092B-C50C-407E-A947-70E740481C1C}">
                <a14:useLocalDpi xmlns:a14="http://schemas.microsoft.com/office/drawing/2010/main" val="0"/>
              </a:ext>
            </a:extLst>
          </a:blip>
          <a:srcRect b="4090"/>
          <a:stretch>
            <a:fillRect/>
          </a:stretch>
        </p:blipFill>
        <p:spPr>
          <a:xfrm>
            <a:off x="296334" y="2827867"/>
            <a:ext cx="8294330" cy="3082045"/>
          </a:xfrm>
          <a:prstGeom prst="rect">
            <a:avLst/>
          </a:prstGeom>
        </p:spPr>
      </p:pic>
    </p:spTree>
    <p:extLst>
      <p:ext uri="{BB962C8B-B14F-4D97-AF65-F5344CB8AC3E}">
        <p14:creationId xmlns:p14="http://schemas.microsoft.com/office/powerpoint/2010/main" val="1958881856"/>
      </p:ext>
    </p:extLst>
  </p:cSld>
  <p:clrMapOvr>
    <a:masterClrMapping/>
  </p:clrMapOvr>
  <p:transition spd="med">
    <p:pull/>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8A0DE9B-68F0-398C-3AB1-31EEFD3DB56B}"/>
              </a:ext>
            </a:extLst>
          </p:cNvPr>
          <p:cNvSpPr>
            <a:spLocks noGrp="1"/>
          </p:cNvSpPr>
          <p:nvPr>
            <p:ph type="title"/>
          </p:nvPr>
        </p:nvSpPr>
        <p:spPr/>
        <p:txBody>
          <a:bodyPr>
            <a:normAutofit/>
          </a:bodyPr>
          <a:lstStyle/>
          <a:p>
            <a:r>
              <a:rPr lang="fr-FR" dirty="0"/>
              <a:t>II- LES ENJEUX MAJEURS DE LA GESTION EN TEMPS REEL 1/2</a:t>
            </a:r>
          </a:p>
        </p:txBody>
      </p:sp>
      <p:sp>
        <p:nvSpPr>
          <p:cNvPr id="3" name="Espace réservé du contenu 2">
            <a:extLst>
              <a:ext uri="{FF2B5EF4-FFF2-40B4-BE49-F238E27FC236}">
                <a16:creationId xmlns:a16="http://schemas.microsoft.com/office/drawing/2014/main" id="{4B47BF8B-A47F-980C-0C6B-57C235D18FDA}"/>
              </a:ext>
            </a:extLst>
          </p:cNvPr>
          <p:cNvSpPr>
            <a:spLocks noGrp="1"/>
          </p:cNvSpPr>
          <p:nvPr>
            <p:ph idx="1"/>
          </p:nvPr>
        </p:nvSpPr>
        <p:spPr>
          <a:xfrm>
            <a:off x="677334" y="2160589"/>
            <a:ext cx="7619999" cy="3880773"/>
          </a:xfrm>
        </p:spPr>
        <p:txBody>
          <a:bodyPr>
            <a:normAutofit/>
          </a:bodyPr>
          <a:lstStyle/>
          <a:p>
            <a:pPr marL="0" indent="0" algn="just">
              <a:buNone/>
            </a:pPr>
            <a:r>
              <a:rPr lang="fr-FR" dirty="0">
                <a:latin typeface="Arial" panose="020B0604020202020204" pitchFamily="34" charset="0"/>
                <a:cs typeface="Arial" panose="020B0604020202020204" pitchFamily="34" charset="0"/>
              </a:rPr>
              <a:t>    Pour gérer une crise Numérique en temps réel, il faut prendre des décisions rapides et coordonnées pour limiter les impacts immédiats et éviter une escalade, ils sont à la fois:</a:t>
            </a:r>
          </a:p>
          <a:p>
            <a:pPr marL="0" indent="0" algn="just">
              <a:buNone/>
            </a:pPr>
            <a:r>
              <a:rPr lang="fr-FR" dirty="0">
                <a:latin typeface="Arial" panose="020B0604020202020204" pitchFamily="34" charset="0"/>
                <a:cs typeface="Arial" panose="020B0604020202020204" pitchFamily="34" charset="0"/>
              </a:rPr>
              <a:t>         </a:t>
            </a:r>
            <a:r>
              <a:rPr lang="fr-FR" dirty="0">
                <a:solidFill>
                  <a:schemeClr val="accent3">
                    <a:lumMod val="75000"/>
                  </a:schemeClr>
                </a:solidFill>
                <a:latin typeface="Arial" panose="020B0604020202020204" pitchFamily="34" charset="0"/>
                <a:cs typeface="Arial" panose="020B0604020202020204" pitchFamily="34" charset="0"/>
              </a:rPr>
              <a:t>A-Enjeux stratégiques</a:t>
            </a:r>
          </a:p>
          <a:p>
            <a:pPr marL="0" indent="0" algn="just">
              <a:buNone/>
            </a:pPr>
            <a:r>
              <a:rPr lang="fr-FR" dirty="0">
                <a:latin typeface="Arial" panose="020B0604020202020204" pitchFamily="34" charset="0"/>
                <a:cs typeface="Arial" panose="020B0604020202020204" pitchFamily="34" charset="0"/>
              </a:rPr>
              <a:t>     Ces enjeux vont au delà d’ un simple cadre technique et touchent la planification de la politique de défense, il s’agit</a:t>
            </a:r>
          </a:p>
          <a:p>
            <a:pPr algn="just">
              <a:buFont typeface="Wingdings" panose="05000000000000000000" pitchFamily="2" charset="2"/>
              <a:buChar char="Ø"/>
            </a:pPr>
            <a:r>
              <a:rPr lang="fr-FR" dirty="0">
                <a:latin typeface="Arial" panose="020B0604020202020204" pitchFamily="34" charset="0"/>
                <a:cs typeface="Arial" panose="020B0604020202020204" pitchFamily="34" charset="0"/>
              </a:rPr>
              <a:t>De préserver la souveraineté(protéger l’indépendance décisionnelle du pays )</a:t>
            </a:r>
          </a:p>
          <a:p>
            <a:pPr algn="just">
              <a:buFont typeface="Wingdings" panose="05000000000000000000" pitchFamily="2" charset="2"/>
              <a:buChar char="Ø"/>
            </a:pPr>
            <a:r>
              <a:rPr lang="fr-FR" dirty="0">
                <a:latin typeface="Arial" panose="020B0604020202020204" pitchFamily="34" charset="0"/>
                <a:cs typeface="Arial" panose="020B0604020202020204" pitchFamily="34" charset="0"/>
              </a:rPr>
              <a:t>De maintenir la supériorité opérationnelle</a:t>
            </a:r>
          </a:p>
          <a:p>
            <a:pPr algn="just">
              <a:buFont typeface="Wingdings" panose="05000000000000000000" pitchFamily="2" charset="2"/>
              <a:buChar char="Ø"/>
            </a:pPr>
            <a:r>
              <a:rPr lang="fr-FR" dirty="0">
                <a:latin typeface="Arial" panose="020B0604020202020204" pitchFamily="34" charset="0"/>
                <a:cs typeface="Arial" panose="020B0604020202020204" pitchFamily="34" charset="0"/>
              </a:rPr>
              <a:t>De protéger le renseignement</a:t>
            </a:r>
          </a:p>
          <a:p>
            <a:pPr algn="just">
              <a:buFont typeface="Wingdings" panose="05000000000000000000" pitchFamily="2" charset="2"/>
              <a:buChar char="Ø"/>
            </a:pPr>
            <a:r>
              <a:rPr lang="fr-FR" dirty="0">
                <a:latin typeface="Arial" panose="020B0604020202020204" pitchFamily="34" charset="0"/>
                <a:cs typeface="Arial" panose="020B0604020202020204" pitchFamily="34" charset="0"/>
              </a:rPr>
              <a:t>Garantir la crédibilité et la dissuasion</a:t>
            </a:r>
          </a:p>
        </p:txBody>
      </p:sp>
      <p:sp>
        <p:nvSpPr>
          <p:cNvPr id="4" name="Espace réservé du numéro de diapositive 3">
            <a:extLst>
              <a:ext uri="{FF2B5EF4-FFF2-40B4-BE49-F238E27FC236}">
                <a16:creationId xmlns:a16="http://schemas.microsoft.com/office/drawing/2014/main" id="{A356859F-38DC-E871-2831-CC837C2A9201}"/>
              </a:ext>
            </a:extLst>
          </p:cNvPr>
          <p:cNvSpPr>
            <a:spLocks noGrp="1"/>
          </p:cNvSpPr>
          <p:nvPr>
            <p:ph type="sldNum" sz="quarter" idx="12"/>
          </p:nvPr>
        </p:nvSpPr>
        <p:spPr/>
        <p:txBody>
          <a:bodyPr/>
          <a:lstStyle/>
          <a:p>
            <a:fld id="{C4AF52E9-3E9B-4A4D-861E-9A50039B3D29}" type="slidenum">
              <a:rPr lang="fr-FR" sz="1600" smtClean="0">
                <a:solidFill>
                  <a:schemeClr val="tx1"/>
                </a:solidFill>
                <a:latin typeface="Arial" panose="020B0604020202020204" pitchFamily="34" charset="0"/>
                <a:cs typeface="Arial" panose="020B0604020202020204" pitchFamily="34" charset="0"/>
              </a:rPr>
              <a:t>8</a:t>
            </a:fld>
            <a:endParaRPr lang="fr-FR" sz="16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24151826"/>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38A67C-6E85-D829-0563-1BC45AAA4C61}"/>
              </a:ext>
            </a:extLst>
          </p:cNvPr>
          <p:cNvSpPr>
            <a:spLocks noGrp="1"/>
          </p:cNvSpPr>
          <p:nvPr>
            <p:ph type="title"/>
          </p:nvPr>
        </p:nvSpPr>
        <p:spPr/>
        <p:txBody>
          <a:bodyPr/>
          <a:lstStyle/>
          <a:p>
            <a:r>
              <a:rPr lang="fr-FR" dirty="0"/>
              <a:t>II- LES ENJEUX MAJEURS DE LA GESTION EN TEMPS REEL 2/2</a:t>
            </a:r>
          </a:p>
        </p:txBody>
      </p:sp>
      <p:sp>
        <p:nvSpPr>
          <p:cNvPr id="4" name="Espace réservé du numéro de diapositive 3">
            <a:extLst>
              <a:ext uri="{FF2B5EF4-FFF2-40B4-BE49-F238E27FC236}">
                <a16:creationId xmlns:a16="http://schemas.microsoft.com/office/drawing/2014/main" id="{AAC0211F-2F98-475B-C77A-6D86181B553F}"/>
              </a:ext>
            </a:extLst>
          </p:cNvPr>
          <p:cNvSpPr>
            <a:spLocks noGrp="1"/>
          </p:cNvSpPr>
          <p:nvPr>
            <p:ph type="sldNum" sz="quarter" idx="12"/>
          </p:nvPr>
        </p:nvSpPr>
        <p:spPr/>
        <p:txBody>
          <a:bodyPr/>
          <a:lstStyle/>
          <a:p>
            <a:fld id="{C4AF52E9-3E9B-4A4D-861E-9A50039B3D29}" type="slidenum">
              <a:rPr lang="fr-FR" sz="1600" smtClean="0">
                <a:solidFill>
                  <a:schemeClr val="tx1"/>
                </a:solidFill>
                <a:latin typeface="Arial" panose="020B0604020202020204" pitchFamily="34" charset="0"/>
                <a:cs typeface="Arial" panose="020B0604020202020204" pitchFamily="34" charset="0"/>
              </a:rPr>
              <a:t>9</a:t>
            </a:fld>
            <a:endParaRPr lang="fr-FR" sz="1600" dirty="0">
              <a:solidFill>
                <a:schemeClr val="tx1"/>
              </a:solidFill>
              <a:latin typeface="Arial" panose="020B0604020202020204" pitchFamily="34" charset="0"/>
              <a:cs typeface="Arial" panose="020B0604020202020204" pitchFamily="34" charset="0"/>
            </a:endParaRPr>
          </a:p>
        </p:txBody>
      </p:sp>
      <p:pic>
        <p:nvPicPr>
          <p:cNvPr id="6" name="Espace réservé du contenu 5">
            <a:extLst>
              <a:ext uri="{FF2B5EF4-FFF2-40B4-BE49-F238E27FC236}">
                <a16:creationId xmlns:a16="http://schemas.microsoft.com/office/drawing/2014/main" id="{897F05C3-7B3C-B227-70C3-AA526CDCF4FF}"/>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9611"/>
          <a:stretch>
            <a:fillRect/>
          </a:stretch>
        </p:blipFill>
        <p:spPr>
          <a:xfrm>
            <a:off x="1645920" y="2338938"/>
            <a:ext cx="6327528" cy="3703087"/>
          </a:xfrm>
          <a:prstGeom prst="rect">
            <a:avLst/>
          </a:prstGeom>
        </p:spPr>
      </p:pic>
    </p:spTree>
    <p:extLst>
      <p:ext uri="{BB962C8B-B14F-4D97-AF65-F5344CB8AC3E}">
        <p14:creationId xmlns:p14="http://schemas.microsoft.com/office/powerpoint/2010/main" val="3349887195"/>
      </p:ext>
    </p:extLst>
  </p:cSld>
  <p:clrMapOvr>
    <a:masterClrMapping/>
  </p:clrMapOvr>
  <p:transition spd="med">
    <p:pull/>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68FF476-3BC6-9DA3-0F4B-7E0395C191EA}"/>
              </a:ext>
            </a:extLst>
          </p:cNvPr>
          <p:cNvSpPr>
            <a:spLocks noGrp="1"/>
          </p:cNvSpPr>
          <p:nvPr>
            <p:ph type="title"/>
          </p:nvPr>
        </p:nvSpPr>
        <p:spPr/>
        <p:txBody>
          <a:bodyPr>
            <a:normAutofit/>
          </a:bodyPr>
          <a:lstStyle/>
          <a:p>
            <a:r>
              <a:rPr lang="fr-FR" sz="1800" dirty="0">
                <a:solidFill>
                  <a:schemeClr val="accent3">
                    <a:lumMod val="75000"/>
                  </a:schemeClr>
                </a:solidFill>
                <a:latin typeface="Arial" panose="020B0604020202020204" pitchFamily="34" charset="0"/>
                <a:cs typeface="Arial" panose="020B0604020202020204" pitchFamily="34" charset="0"/>
              </a:rPr>
              <a:t>B- Les enjeux opérationnel</a:t>
            </a:r>
            <a:r>
              <a:rPr lang="fr-FR" sz="1800" dirty="0">
                <a:solidFill>
                  <a:schemeClr val="accent3">
                    <a:lumMod val="75000"/>
                  </a:schemeClr>
                </a:solidFill>
              </a:rPr>
              <a:t>s</a:t>
            </a:r>
          </a:p>
        </p:txBody>
      </p:sp>
      <p:sp>
        <p:nvSpPr>
          <p:cNvPr id="3" name="Espace réservé du contenu 2">
            <a:extLst>
              <a:ext uri="{FF2B5EF4-FFF2-40B4-BE49-F238E27FC236}">
                <a16:creationId xmlns:a16="http://schemas.microsoft.com/office/drawing/2014/main" id="{7338C781-6241-6E38-35B0-8F19A9C4E3BE}"/>
              </a:ext>
            </a:extLst>
          </p:cNvPr>
          <p:cNvSpPr>
            <a:spLocks noGrp="1"/>
          </p:cNvSpPr>
          <p:nvPr>
            <p:ph idx="1"/>
          </p:nvPr>
        </p:nvSpPr>
        <p:spPr>
          <a:xfrm>
            <a:off x="423513" y="1193533"/>
            <a:ext cx="7767586" cy="5054867"/>
          </a:xfrm>
        </p:spPr>
        <p:txBody>
          <a:bodyPr>
            <a:noAutofit/>
          </a:bodyPr>
          <a:lstStyle/>
          <a:p>
            <a:pPr marL="0" indent="0" algn="just">
              <a:buNone/>
            </a:pPr>
            <a:r>
              <a:rPr lang="fr-FR" dirty="0">
                <a:latin typeface="Arial" panose="020B0604020202020204" pitchFamily="34" charset="0"/>
                <a:cs typeface="Arial" panose="020B0604020202020204" pitchFamily="34" charset="0"/>
              </a:rPr>
              <a:t>      Ici, nous faisons face à la conduite effective des opérations militaires, aux réactivités des unités et la résilience face aux perturbations numériques, il s’agit:</a:t>
            </a:r>
          </a:p>
          <a:p>
            <a:pPr algn="just">
              <a:buFont typeface="Wingdings" panose="05000000000000000000" pitchFamily="2" charset="2"/>
              <a:buChar char="Ø"/>
            </a:pPr>
            <a:r>
              <a:rPr lang="fr-FR" b="1" dirty="0">
                <a:latin typeface="Arial" panose="020B0604020202020204" pitchFamily="34" charset="0"/>
                <a:cs typeface="Arial" panose="020B0604020202020204" pitchFamily="34" charset="0"/>
              </a:rPr>
              <a:t>De la continuité des opérations;</a:t>
            </a:r>
          </a:p>
          <a:p>
            <a:pPr algn="just">
              <a:buFont typeface="Wingdings" panose="05000000000000000000" pitchFamily="2" charset="2"/>
              <a:buChar char="Ø"/>
            </a:pPr>
            <a:endParaRPr lang="fr-FR" dirty="0">
              <a:latin typeface="Arial" panose="020B0604020202020204" pitchFamily="34" charset="0"/>
              <a:cs typeface="Arial" panose="020B0604020202020204" pitchFamily="34" charset="0"/>
            </a:endParaRPr>
          </a:p>
          <a:p>
            <a:pPr algn="just">
              <a:buFont typeface="Wingdings" panose="05000000000000000000" pitchFamily="2" charset="2"/>
              <a:buChar char="Ø"/>
            </a:pPr>
            <a:r>
              <a:rPr lang="fr-FR" b="1" dirty="0">
                <a:latin typeface="Arial" panose="020B0604020202020204" pitchFamily="34" charset="0"/>
                <a:cs typeface="Arial" panose="020B0604020202020204" pitchFamily="34" charset="0"/>
              </a:rPr>
              <a:t>De la rapidité de détection et de réaction</a:t>
            </a:r>
            <a:r>
              <a:rPr lang="fr-FR" dirty="0">
                <a:latin typeface="Arial" panose="020B0604020202020204" pitchFamily="34" charset="0"/>
                <a:cs typeface="Arial" panose="020B0604020202020204" pitchFamily="34" charset="0"/>
              </a:rPr>
              <a:t>;</a:t>
            </a:r>
          </a:p>
          <a:p>
            <a:pPr algn="just">
              <a:buFont typeface="Wingdings" panose="05000000000000000000" pitchFamily="2" charset="2"/>
              <a:buChar char="Ø"/>
            </a:pPr>
            <a:endParaRPr lang="fr-FR" dirty="0">
              <a:latin typeface="Arial" panose="020B0604020202020204" pitchFamily="34" charset="0"/>
              <a:cs typeface="Arial" panose="020B0604020202020204" pitchFamily="34" charset="0"/>
            </a:endParaRPr>
          </a:p>
          <a:p>
            <a:pPr algn="just">
              <a:buFont typeface="Wingdings" panose="05000000000000000000" pitchFamily="2" charset="2"/>
              <a:buChar char="Ø"/>
            </a:pPr>
            <a:r>
              <a:rPr lang="fr-FR" b="1" dirty="0">
                <a:latin typeface="Arial" panose="020B0604020202020204" pitchFamily="34" charset="0"/>
                <a:cs typeface="Arial" panose="020B0604020202020204" pitchFamily="34" charset="0"/>
              </a:rPr>
              <a:t>De la coordination efficace de tous les acteurs;</a:t>
            </a:r>
          </a:p>
          <a:p>
            <a:pPr algn="just">
              <a:buFont typeface="Wingdings" panose="05000000000000000000" pitchFamily="2" charset="2"/>
              <a:buChar char="Ø"/>
            </a:pPr>
            <a:endParaRPr lang="fr-FR" dirty="0">
              <a:latin typeface="Arial" panose="020B0604020202020204" pitchFamily="34" charset="0"/>
              <a:cs typeface="Arial" panose="020B0604020202020204" pitchFamily="34" charset="0"/>
            </a:endParaRPr>
          </a:p>
          <a:p>
            <a:pPr algn="just">
              <a:buFont typeface="Wingdings" panose="05000000000000000000" pitchFamily="2" charset="2"/>
              <a:buChar char="Ø"/>
            </a:pPr>
            <a:r>
              <a:rPr lang="fr-FR" b="1" dirty="0">
                <a:latin typeface="Arial" panose="020B0604020202020204" pitchFamily="34" charset="0"/>
                <a:cs typeface="Arial" panose="020B0604020202020204" pitchFamily="34" charset="0"/>
              </a:rPr>
              <a:t>De s’adapter à l’évolution de la crise;</a:t>
            </a:r>
          </a:p>
          <a:p>
            <a:pPr algn="just">
              <a:buFont typeface="Wingdings" panose="05000000000000000000" pitchFamily="2" charset="2"/>
              <a:buChar char="Ø"/>
            </a:pPr>
            <a:endParaRPr lang="fr-FR" dirty="0">
              <a:latin typeface="Arial" panose="020B0604020202020204" pitchFamily="34" charset="0"/>
              <a:cs typeface="Arial" panose="020B0604020202020204" pitchFamily="34" charset="0"/>
            </a:endParaRPr>
          </a:p>
          <a:p>
            <a:pPr algn="just">
              <a:buFont typeface="Wingdings" panose="05000000000000000000" pitchFamily="2" charset="2"/>
              <a:buChar char="Ø"/>
            </a:pPr>
            <a:r>
              <a:rPr lang="fr-FR" b="1" dirty="0">
                <a:latin typeface="Arial" panose="020B0604020202020204" pitchFamily="34" charset="0"/>
                <a:cs typeface="Arial" panose="020B0604020202020204" pitchFamily="34" charset="0"/>
              </a:rPr>
              <a:t>De préserver la résilience des systèmes et infrastructures;</a:t>
            </a:r>
            <a:endParaRPr lang="fr-FR" dirty="0">
              <a:latin typeface="Arial" panose="020B0604020202020204" pitchFamily="34" charset="0"/>
              <a:cs typeface="Arial" panose="020B0604020202020204" pitchFamily="34" charset="0"/>
            </a:endParaRPr>
          </a:p>
        </p:txBody>
      </p:sp>
      <p:sp>
        <p:nvSpPr>
          <p:cNvPr id="4" name="Espace réservé du numéro de diapositive 3">
            <a:extLst>
              <a:ext uri="{FF2B5EF4-FFF2-40B4-BE49-F238E27FC236}">
                <a16:creationId xmlns:a16="http://schemas.microsoft.com/office/drawing/2014/main" id="{403EDA7C-8E6B-DC57-0269-D9B0E6CACA37}"/>
              </a:ext>
            </a:extLst>
          </p:cNvPr>
          <p:cNvSpPr>
            <a:spLocks noGrp="1"/>
          </p:cNvSpPr>
          <p:nvPr>
            <p:ph type="sldNum" sz="quarter" idx="12"/>
          </p:nvPr>
        </p:nvSpPr>
        <p:spPr/>
        <p:txBody>
          <a:bodyPr/>
          <a:lstStyle/>
          <a:p>
            <a:fld id="{C4AF52E9-3E9B-4A4D-861E-9A50039B3D29}" type="slidenum">
              <a:rPr lang="fr-FR" sz="1600" smtClean="0">
                <a:solidFill>
                  <a:schemeClr val="tx1"/>
                </a:solidFill>
                <a:latin typeface="Arial" panose="020B0604020202020204" pitchFamily="34" charset="0"/>
                <a:cs typeface="Arial" panose="020B0604020202020204" pitchFamily="34" charset="0"/>
              </a:rPr>
              <a:t>10</a:t>
            </a:fld>
            <a:endParaRPr lang="fr-FR" sz="16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66294688"/>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F845C7A5-53F9-582F-BFB4-665302A19EFA}"/>
              </a:ext>
            </a:extLst>
          </p:cNvPr>
          <p:cNvSpPr>
            <a:spLocks noGrp="1"/>
          </p:cNvSpPr>
          <p:nvPr>
            <p:ph idx="1"/>
          </p:nvPr>
        </p:nvSpPr>
        <p:spPr>
          <a:xfrm>
            <a:off x="861372" y="1356048"/>
            <a:ext cx="7808495" cy="4419110"/>
          </a:xfrm>
        </p:spPr>
        <p:txBody>
          <a:bodyPr>
            <a:normAutofit lnSpcReduction="10000"/>
          </a:bodyPr>
          <a:lstStyle/>
          <a:p>
            <a:pPr marL="0" indent="0" algn="just">
              <a:buNone/>
            </a:pPr>
            <a:r>
              <a:rPr lang="fr-FR" dirty="0"/>
              <a:t>          </a:t>
            </a:r>
            <a:r>
              <a:rPr lang="fr-FR" dirty="0">
                <a:latin typeface="Arial" panose="020B0604020202020204" pitchFamily="34" charset="0"/>
                <a:cs typeface="Arial" panose="020B0604020202020204" pitchFamily="34" charset="0"/>
              </a:rPr>
              <a:t>Une crise militaire ou cyberattaque ne touche pas seulement les systèmes informatiques, elle affecte également la </a:t>
            </a:r>
            <a:r>
              <a:rPr lang="fr-FR" b="1" dirty="0">
                <a:latin typeface="Arial" panose="020B0604020202020204" pitchFamily="34" charset="0"/>
                <a:cs typeface="Arial" panose="020B0604020202020204" pitchFamily="34" charset="0"/>
              </a:rPr>
              <a:t>souveraineté des Etats </a:t>
            </a:r>
            <a:r>
              <a:rPr lang="fr-FR" dirty="0">
                <a:latin typeface="Arial" panose="020B0604020202020204" pitchFamily="34" charset="0"/>
                <a:cs typeface="Arial" panose="020B0604020202020204" pitchFamily="34" charset="0"/>
              </a:rPr>
              <a:t>et la </a:t>
            </a:r>
            <a:r>
              <a:rPr lang="fr-FR" b="1" dirty="0">
                <a:latin typeface="Arial" panose="020B0604020202020204" pitchFamily="34" charset="0"/>
                <a:cs typeface="Arial" panose="020B0604020202020204" pitchFamily="34" charset="0"/>
              </a:rPr>
              <a:t>stabilité</a:t>
            </a:r>
            <a:r>
              <a:rPr lang="fr-FR" dirty="0">
                <a:latin typeface="Arial" panose="020B0604020202020204" pitchFamily="34" charset="0"/>
                <a:cs typeface="Arial" panose="020B0604020202020204" pitchFamily="34" charset="0"/>
              </a:rPr>
              <a:t> </a:t>
            </a:r>
            <a:r>
              <a:rPr lang="fr-FR" b="1" dirty="0">
                <a:latin typeface="Arial" panose="020B0604020202020204" pitchFamily="34" charset="0"/>
                <a:cs typeface="Arial" panose="020B0604020202020204" pitchFamily="34" charset="0"/>
              </a:rPr>
              <a:t>politique.</a:t>
            </a:r>
          </a:p>
          <a:p>
            <a:pPr algn="just">
              <a:buFont typeface="Wingdings" panose="05000000000000000000" pitchFamily="2" charset="2"/>
              <a:buChar char="Ø"/>
            </a:pPr>
            <a:r>
              <a:rPr lang="fr-FR" b="1" dirty="0">
                <a:latin typeface="Arial" panose="020B0604020202020204" pitchFamily="34" charset="0"/>
                <a:cs typeface="Arial" panose="020B0604020202020204" pitchFamily="34" charset="0"/>
              </a:rPr>
              <a:t>De préserver sa souveraineté et la sécurité de l’Etat</a:t>
            </a:r>
            <a:r>
              <a:rPr lang="fr-FR" dirty="0">
                <a:latin typeface="Arial" panose="020B0604020202020204" pitchFamily="34" charset="0"/>
                <a:cs typeface="Arial" panose="020B0604020202020204" pitchFamily="34" charset="0"/>
              </a:rPr>
              <a:t>: lorsqu’un pays subit une cyberattaque majeure cela peut menacer la sécurité nationale, remettre en cause son autorité…</a:t>
            </a:r>
          </a:p>
          <a:p>
            <a:pPr algn="just">
              <a:buFont typeface="Wingdings" panose="05000000000000000000" pitchFamily="2" charset="2"/>
              <a:buChar char="Ø"/>
            </a:pPr>
            <a:endParaRPr lang="fr-FR" dirty="0">
              <a:latin typeface="Arial" panose="020B0604020202020204" pitchFamily="34" charset="0"/>
              <a:cs typeface="Arial" panose="020B0604020202020204" pitchFamily="34" charset="0"/>
            </a:endParaRPr>
          </a:p>
          <a:p>
            <a:pPr algn="just">
              <a:buFont typeface="Wingdings" panose="05000000000000000000" pitchFamily="2" charset="2"/>
              <a:buChar char="Ø"/>
            </a:pPr>
            <a:r>
              <a:rPr lang="fr-FR" b="1" dirty="0">
                <a:latin typeface="Arial" panose="020B0604020202020204" pitchFamily="34" charset="0"/>
                <a:cs typeface="Arial" panose="020B0604020202020204" pitchFamily="34" charset="0"/>
              </a:rPr>
              <a:t>De gérer les relations internationales</a:t>
            </a:r>
            <a:r>
              <a:rPr lang="fr-FR" dirty="0">
                <a:latin typeface="Arial" panose="020B0604020202020204" pitchFamily="34" charset="0"/>
                <a:cs typeface="Arial" panose="020B0604020202020204" pitchFamily="34" charset="0"/>
              </a:rPr>
              <a:t>: car étant difficile d’identifier clairement l’auteur d’une cyberattaque cela peut entrainer des tensions diplomatiques ou des accusations erronées.</a:t>
            </a:r>
          </a:p>
          <a:p>
            <a:pPr algn="just">
              <a:buFont typeface="Wingdings" panose="05000000000000000000" pitchFamily="2" charset="2"/>
              <a:buChar char="Ø"/>
            </a:pPr>
            <a:endParaRPr lang="fr-FR" dirty="0">
              <a:latin typeface="Arial" panose="020B0604020202020204" pitchFamily="34" charset="0"/>
              <a:cs typeface="Arial" panose="020B0604020202020204" pitchFamily="34" charset="0"/>
            </a:endParaRPr>
          </a:p>
          <a:p>
            <a:pPr algn="just">
              <a:buFont typeface="Wingdings" panose="05000000000000000000" pitchFamily="2" charset="2"/>
              <a:buChar char="Ø"/>
            </a:pPr>
            <a:r>
              <a:rPr lang="fr-FR" b="1" dirty="0">
                <a:latin typeface="Arial" panose="020B0604020202020204" pitchFamily="34" charset="0"/>
                <a:cs typeface="Arial" panose="020B0604020202020204" pitchFamily="34" charset="0"/>
              </a:rPr>
              <a:t>D’assurer la stabilité nationale</a:t>
            </a:r>
            <a:r>
              <a:rPr lang="fr-FR" dirty="0">
                <a:latin typeface="Arial" panose="020B0604020202020204" pitchFamily="34" charset="0"/>
                <a:cs typeface="Arial" panose="020B0604020202020204" pitchFamily="34" charset="0"/>
              </a:rPr>
              <a:t>: une mauvaise gestion peut entrainer une fragilisation du leadership, des tensions politiques ou une perte de confiance.</a:t>
            </a:r>
          </a:p>
          <a:p>
            <a:pPr>
              <a:buFont typeface="Wingdings" panose="05000000000000000000" pitchFamily="2" charset="2"/>
              <a:buChar char="Ø"/>
            </a:pPr>
            <a:endParaRPr lang="fr-FR" b="1" dirty="0"/>
          </a:p>
        </p:txBody>
      </p:sp>
      <p:sp>
        <p:nvSpPr>
          <p:cNvPr id="6" name="Espace réservé du numéro de diapositive 5">
            <a:extLst>
              <a:ext uri="{FF2B5EF4-FFF2-40B4-BE49-F238E27FC236}">
                <a16:creationId xmlns:a16="http://schemas.microsoft.com/office/drawing/2014/main" id="{E9970DF9-C314-871B-7004-6351870829C8}"/>
              </a:ext>
            </a:extLst>
          </p:cNvPr>
          <p:cNvSpPr>
            <a:spLocks noGrp="1"/>
          </p:cNvSpPr>
          <p:nvPr>
            <p:ph type="sldNum" sz="quarter" idx="12"/>
          </p:nvPr>
        </p:nvSpPr>
        <p:spPr/>
        <p:txBody>
          <a:bodyPr/>
          <a:lstStyle/>
          <a:p>
            <a:fld id="{C4AF52E9-3E9B-4A4D-861E-9A50039B3D29}" type="slidenum">
              <a:rPr lang="fr-FR" sz="1600" smtClean="0">
                <a:solidFill>
                  <a:schemeClr val="tx1"/>
                </a:solidFill>
                <a:latin typeface="Arial" panose="020B0604020202020204" pitchFamily="34" charset="0"/>
                <a:cs typeface="Arial" panose="020B0604020202020204" pitchFamily="34" charset="0"/>
              </a:rPr>
              <a:t>11</a:t>
            </a:fld>
            <a:endParaRPr lang="fr-FR" sz="1600" dirty="0">
              <a:solidFill>
                <a:schemeClr val="tx1"/>
              </a:solidFill>
              <a:latin typeface="Arial" panose="020B0604020202020204" pitchFamily="34" charset="0"/>
              <a:cs typeface="Arial" panose="020B0604020202020204" pitchFamily="34" charset="0"/>
            </a:endParaRPr>
          </a:p>
        </p:txBody>
      </p:sp>
      <p:sp>
        <p:nvSpPr>
          <p:cNvPr id="2" name="Titre 1">
            <a:extLst>
              <a:ext uri="{FF2B5EF4-FFF2-40B4-BE49-F238E27FC236}">
                <a16:creationId xmlns:a16="http://schemas.microsoft.com/office/drawing/2014/main" id="{97E6CF10-ED8F-AB92-A90A-62FE07D86CB4}"/>
              </a:ext>
            </a:extLst>
          </p:cNvPr>
          <p:cNvSpPr>
            <a:spLocks noGrp="1"/>
          </p:cNvSpPr>
          <p:nvPr>
            <p:ph type="title"/>
          </p:nvPr>
        </p:nvSpPr>
        <p:spPr>
          <a:xfrm>
            <a:off x="677334" y="609600"/>
            <a:ext cx="8596668" cy="457200"/>
          </a:xfrm>
        </p:spPr>
        <p:txBody>
          <a:bodyPr>
            <a:normAutofit/>
          </a:bodyPr>
          <a:lstStyle/>
          <a:p>
            <a:r>
              <a:rPr lang="fr-FR" sz="1400" dirty="0">
                <a:solidFill>
                  <a:schemeClr val="accent3">
                    <a:lumMod val="75000"/>
                  </a:schemeClr>
                </a:solidFill>
              </a:rPr>
              <a:t>                                            </a:t>
            </a:r>
            <a:r>
              <a:rPr lang="fr-FR" sz="1800" dirty="0">
                <a:solidFill>
                  <a:schemeClr val="accent3">
                    <a:lumMod val="75000"/>
                  </a:schemeClr>
                </a:solidFill>
                <a:latin typeface="Arial" panose="020B0604020202020204" pitchFamily="34" charset="0"/>
                <a:cs typeface="Arial" panose="020B0604020202020204" pitchFamily="34" charset="0"/>
              </a:rPr>
              <a:t>C- Les enjeux politiques</a:t>
            </a:r>
            <a:endParaRPr lang="fr-FR" sz="1400" dirty="0">
              <a:solidFill>
                <a:schemeClr val="accent3">
                  <a:lumMod val="7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4009580"/>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F59EB12-3168-CC8E-4F99-EE5B99E2D2D1}"/>
              </a:ext>
            </a:extLst>
          </p:cNvPr>
          <p:cNvSpPr>
            <a:spLocks noGrp="1"/>
          </p:cNvSpPr>
          <p:nvPr>
            <p:ph type="title"/>
          </p:nvPr>
        </p:nvSpPr>
        <p:spPr>
          <a:xfrm>
            <a:off x="250257" y="604521"/>
            <a:ext cx="9982198" cy="1092200"/>
          </a:xfrm>
        </p:spPr>
        <p:txBody>
          <a:bodyPr>
            <a:normAutofit/>
          </a:bodyPr>
          <a:lstStyle/>
          <a:p>
            <a:r>
              <a:rPr lang="fr-FR" sz="3200" dirty="0">
                <a:latin typeface="Arial" panose="020B0604020202020204" pitchFamily="34" charset="0"/>
                <a:cs typeface="Arial" panose="020B0604020202020204" pitchFamily="34" charset="0"/>
              </a:rPr>
              <a:t>III-L’APPROCHE INTEGREE DANS LA GESTION D’UNE CRISE NUMERIQUE MILITAIRE</a:t>
            </a:r>
          </a:p>
        </p:txBody>
      </p:sp>
      <p:sp>
        <p:nvSpPr>
          <p:cNvPr id="3" name="Espace réservé du contenu 2">
            <a:extLst>
              <a:ext uri="{FF2B5EF4-FFF2-40B4-BE49-F238E27FC236}">
                <a16:creationId xmlns:a16="http://schemas.microsoft.com/office/drawing/2014/main" id="{5DE15410-3B46-0F48-6AF9-E27309BF7434}"/>
              </a:ext>
            </a:extLst>
          </p:cNvPr>
          <p:cNvSpPr>
            <a:spLocks noGrp="1"/>
          </p:cNvSpPr>
          <p:nvPr>
            <p:ph idx="1"/>
          </p:nvPr>
        </p:nvSpPr>
        <p:spPr>
          <a:xfrm>
            <a:off x="367276" y="1696721"/>
            <a:ext cx="9144000" cy="4709766"/>
          </a:xfrm>
        </p:spPr>
        <p:txBody>
          <a:bodyPr>
            <a:normAutofit/>
          </a:bodyPr>
          <a:lstStyle/>
          <a:p>
            <a:pPr marL="0" indent="0" algn="just">
              <a:buNone/>
            </a:pPr>
            <a:r>
              <a:rPr lang="fr-FR" dirty="0"/>
              <a:t>   </a:t>
            </a:r>
            <a:r>
              <a:rPr lang="fr-FR" dirty="0">
                <a:solidFill>
                  <a:schemeClr val="accent3">
                    <a:lumMod val="75000"/>
                  </a:schemeClr>
                </a:solidFill>
                <a:latin typeface="Arial" panose="020B0604020202020204" pitchFamily="34" charset="0"/>
                <a:cs typeface="Arial" panose="020B0604020202020204" pitchFamily="34" charset="0"/>
              </a:rPr>
              <a:t>A-Dimension stratégique et communicationnelle</a:t>
            </a:r>
          </a:p>
          <a:p>
            <a:pPr marL="0" indent="0" algn="just">
              <a:buNone/>
            </a:pPr>
            <a:r>
              <a:rPr lang="fr-FR" dirty="0">
                <a:latin typeface="Arial" panose="020B0604020202020204" pitchFamily="34" charset="0"/>
                <a:cs typeface="Arial" panose="020B0604020202020204" pitchFamily="34" charset="0"/>
              </a:rPr>
              <a:t>     Pendant la crise elle permet une </a:t>
            </a:r>
            <a:r>
              <a:rPr lang="fr-FR" b="1" dirty="0">
                <a:latin typeface="Arial" panose="020B0604020202020204" pitchFamily="34" charset="0"/>
                <a:cs typeface="Arial" panose="020B0604020202020204" pitchFamily="34" charset="0"/>
              </a:rPr>
              <a:t>prise rapide de décision </a:t>
            </a:r>
            <a:r>
              <a:rPr lang="fr-FR" dirty="0">
                <a:latin typeface="Arial" panose="020B0604020202020204" pitchFamily="34" charset="0"/>
                <a:cs typeface="Arial" panose="020B0604020202020204" pitchFamily="34" charset="0"/>
              </a:rPr>
              <a:t>et une </a:t>
            </a:r>
            <a:r>
              <a:rPr lang="fr-FR" b="1" dirty="0">
                <a:latin typeface="Arial" panose="020B0604020202020204" pitchFamily="34" charset="0"/>
                <a:cs typeface="Arial" panose="020B0604020202020204" pitchFamily="34" charset="0"/>
              </a:rPr>
              <a:t>coordination efficace </a:t>
            </a:r>
            <a:r>
              <a:rPr lang="fr-FR" dirty="0">
                <a:latin typeface="Arial" panose="020B0604020202020204" pitchFamily="34" charset="0"/>
                <a:cs typeface="Arial" panose="020B0604020202020204" pitchFamily="34" charset="0"/>
              </a:rPr>
              <a:t>entre les acteurs:</a:t>
            </a:r>
          </a:p>
          <a:p>
            <a:pPr algn="just">
              <a:buFont typeface="Arial" panose="020B0604020202020204" pitchFamily="34" charset="0"/>
              <a:buChar char="•"/>
            </a:pPr>
            <a:r>
              <a:rPr lang="fr-FR" dirty="0">
                <a:latin typeface="Arial" panose="020B0604020202020204" pitchFamily="34" charset="0"/>
                <a:cs typeface="Arial" panose="020B0604020202020204" pitchFamily="34" charset="0"/>
              </a:rPr>
              <a:t>Maitrise de la communication interne et externe;</a:t>
            </a:r>
          </a:p>
          <a:p>
            <a:pPr algn="just">
              <a:buFont typeface="Arial" panose="020B0604020202020204" pitchFamily="34" charset="0"/>
              <a:buChar char="•"/>
            </a:pPr>
            <a:r>
              <a:rPr lang="fr-FR" dirty="0">
                <a:latin typeface="Arial" panose="020B0604020202020204" pitchFamily="34" charset="0"/>
                <a:cs typeface="Arial" panose="020B0604020202020204" pitchFamily="34" charset="0"/>
              </a:rPr>
              <a:t>Lutte contre la désinformation;</a:t>
            </a:r>
          </a:p>
          <a:p>
            <a:pPr algn="just">
              <a:buFont typeface="Arial" panose="020B0604020202020204" pitchFamily="34" charset="0"/>
              <a:buChar char="•"/>
            </a:pPr>
            <a:r>
              <a:rPr lang="fr-FR" dirty="0">
                <a:latin typeface="Arial" panose="020B0604020202020204" pitchFamily="34" charset="0"/>
                <a:cs typeface="Arial" panose="020B0604020202020204" pitchFamily="34" charset="0"/>
              </a:rPr>
              <a:t>Préserver la crédibilité et la dissuasion;                       </a:t>
            </a:r>
          </a:p>
          <a:p>
            <a:pPr marL="0" indent="0" algn="just">
              <a:buNone/>
            </a:pPr>
            <a:r>
              <a:rPr lang="fr-FR" dirty="0">
                <a:latin typeface="Arial" panose="020B0604020202020204" pitchFamily="34" charset="0"/>
                <a:cs typeface="Arial" panose="020B0604020202020204" pitchFamily="34" charset="0"/>
              </a:rPr>
              <a:t>   </a:t>
            </a:r>
            <a:r>
              <a:rPr lang="fr-FR" dirty="0">
                <a:solidFill>
                  <a:schemeClr val="accent3">
                    <a:lumMod val="75000"/>
                  </a:schemeClr>
                </a:solidFill>
                <a:latin typeface="Arial" panose="020B0604020202020204" pitchFamily="34" charset="0"/>
                <a:cs typeface="Arial" panose="020B0604020202020204" pitchFamily="34" charset="0"/>
              </a:rPr>
              <a:t>B-Dimension Humaine</a:t>
            </a:r>
          </a:p>
          <a:p>
            <a:pPr marL="0" indent="0" algn="just">
              <a:buNone/>
            </a:pPr>
            <a:r>
              <a:rPr lang="fr-FR" dirty="0">
                <a:latin typeface="Arial" panose="020B0604020202020204" pitchFamily="34" charset="0"/>
                <a:cs typeface="Arial" panose="020B0604020202020204" pitchFamily="34" charset="0"/>
              </a:rPr>
              <a:t>    Elle repose sur la  capacité d’avoir des acteurs formés, coordonnés et réactifs:</a:t>
            </a:r>
          </a:p>
          <a:p>
            <a:pPr algn="just">
              <a:buFont typeface="Arial" panose="020B0604020202020204" pitchFamily="34" charset="0"/>
              <a:buChar char="•"/>
            </a:pPr>
            <a:r>
              <a:rPr lang="fr-FR" dirty="0">
                <a:latin typeface="Arial" panose="020B0604020202020204" pitchFamily="34" charset="0"/>
                <a:cs typeface="Arial" panose="020B0604020202020204" pitchFamily="34" charset="0"/>
              </a:rPr>
              <a:t>Formation des militaires et décideurs au cyber;</a:t>
            </a:r>
          </a:p>
          <a:p>
            <a:pPr algn="just">
              <a:buFont typeface="Arial" panose="020B0604020202020204" pitchFamily="34" charset="0"/>
              <a:buChar char="•"/>
            </a:pPr>
            <a:r>
              <a:rPr lang="fr-FR" dirty="0">
                <a:latin typeface="Arial" panose="020B0604020202020204" pitchFamily="34" charset="0"/>
                <a:cs typeface="Arial" panose="020B0604020202020204" pitchFamily="34" charset="0"/>
              </a:rPr>
              <a:t>Chaine de commandement claire;</a:t>
            </a:r>
          </a:p>
          <a:p>
            <a:pPr algn="just">
              <a:buFont typeface="Arial" panose="020B0604020202020204" pitchFamily="34" charset="0"/>
              <a:buChar char="•"/>
            </a:pPr>
            <a:r>
              <a:rPr lang="fr-FR" dirty="0">
                <a:latin typeface="Arial" panose="020B0604020202020204" pitchFamily="34" charset="0"/>
                <a:cs typeface="Arial" panose="020B0604020202020204" pitchFamily="34" charset="0"/>
              </a:rPr>
              <a:t>Exercices de crise et simulations;</a:t>
            </a:r>
          </a:p>
          <a:p>
            <a:pPr algn="just">
              <a:buFont typeface="Arial" panose="020B0604020202020204" pitchFamily="34" charset="0"/>
              <a:buChar char="•"/>
            </a:pPr>
            <a:r>
              <a:rPr lang="fr-FR" dirty="0">
                <a:latin typeface="Arial" panose="020B0604020202020204" pitchFamily="34" charset="0"/>
                <a:cs typeface="Arial" panose="020B0604020202020204" pitchFamily="34" charset="0"/>
              </a:rPr>
              <a:t>Gestion du stress, de la fatigue décisionnelle;</a:t>
            </a:r>
          </a:p>
          <a:p>
            <a:pPr algn="just">
              <a:buFont typeface="Arial" panose="020B0604020202020204" pitchFamily="34" charset="0"/>
              <a:buChar char="•"/>
            </a:pPr>
            <a:endParaRPr lang="fr-FR" dirty="0"/>
          </a:p>
        </p:txBody>
      </p:sp>
      <p:sp>
        <p:nvSpPr>
          <p:cNvPr id="4" name="Espace réservé du numéro de diapositive 3">
            <a:extLst>
              <a:ext uri="{FF2B5EF4-FFF2-40B4-BE49-F238E27FC236}">
                <a16:creationId xmlns:a16="http://schemas.microsoft.com/office/drawing/2014/main" id="{49F57BBA-C98D-FD71-3BB7-B209524A8D8F}"/>
              </a:ext>
            </a:extLst>
          </p:cNvPr>
          <p:cNvSpPr>
            <a:spLocks noGrp="1"/>
          </p:cNvSpPr>
          <p:nvPr>
            <p:ph type="sldNum" sz="quarter" idx="12"/>
          </p:nvPr>
        </p:nvSpPr>
        <p:spPr/>
        <p:txBody>
          <a:bodyPr/>
          <a:lstStyle/>
          <a:p>
            <a:fld id="{C4AF52E9-3E9B-4A4D-861E-9A50039B3D29}" type="slidenum">
              <a:rPr lang="fr-FR" sz="1600" smtClean="0">
                <a:solidFill>
                  <a:schemeClr val="tx1"/>
                </a:solidFill>
                <a:latin typeface="Arial" panose="020B0604020202020204" pitchFamily="34" charset="0"/>
                <a:cs typeface="Arial" panose="020B0604020202020204" pitchFamily="34" charset="0"/>
              </a:rPr>
              <a:t>12</a:t>
            </a:fld>
            <a:endParaRPr lang="fr-FR" sz="16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76749512"/>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EF2B4AD2-E25A-0C15-A780-635235011E5E}"/>
              </a:ext>
            </a:extLst>
          </p:cNvPr>
          <p:cNvSpPr>
            <a:spLocks noGrp="1"/>
          </p:cNvSpPr>
          <p:nvPr>
            <p:ph type="sldNum" sz="quarter" idx="12"/>
          </p:nvPr>
        </p:nvSpPr>
        <p:spPr/>
        <p:txBody>
          <a:bodyPr/>
          <a:lstStyle/>
          <a:p>
            <a:fld id="{C4AF52E9-3E9B-4A4D-861E-9A50039B3D29}" type="slidenum">
              <a:rPr lang="fr-FR" sz="1600" smtClean="0">
                <a:solidFill>
                  <a:schemeClr val="tx1"/>
                </a:solidFill>
                <a:latin typeface="Arial" panose="020B0604020202020204" pitchFamily="34" charset="0"/>
                <a:cs typeface="Arial" panose="020B0604020202020204" pitchFamily="34" charset="0"/>
              </a:rPr>
              <a:t>13</a:t>
            </a:fld>
            <a:endParaRPr lang="fr-FR" sz="1600" dirty="0">
              <a:solidFill>
                <a:schemeClr val="tx1"/>
              </a:solidFill>
              <a:latin typeface="Arial" panose="020B0604020202020204" pitchFamily="34" charset="0"/>
              <a:cs typeface="Arial" panose="020B0604020202020204" pitchFamily="34" charset="0"/>
            </a:endParaRPr>
          </a:p>
        </p:txBody>
      </p:sp>
      <p:sp>
        <p:nvSpPr>
          <p:cNvPr id="2" name="Titre 1">
            <a:extLst>
              <a:ext uri="{FF2B5EF4-FFF2-40B4-BE49-F238E27FC236}">
                <a16:creationId xmlns:a16="http://schemas.microsoft.com/office/drawing/2014/main" id="{1BC10486-5167-5215-7FA1-58904BB87520}"/>
              </a:ext>
            </a:extLst>
          </p:cNvPr>
          <p:cNvSpPr>
            <a:spLocks noGrp="1"/>
          </p:cNvSpPr>
          <p:nvPr>
            <p:ph type="title" idx="4294967295"/>
          </p:nvPr>
        </p:nvSpPr>
        <p:spPr>
          <a:xfrm>
            <a:off x="677689" y="368969"/>
            <a:ext cx="8596313" cy="1320800"/>
          </a:xfrm>
        </p:spPr>
        <p:txBody>
          <a:bodyPr>
            <a:normAutofit/>
          </a:bodyPr>
          <a:lstStyle/>
          <a:p>
            <a:pPr algn="ctr"/>
            <a:r>
              <a:rPr lang="fr-FR" dirty="0"/>
              <a:t>IV-LIMITES ET DEFI DE L’APPROCHE INTEGREE</a:t>
            </a:r>
          </a:p>
        </p:txBody>
      </p:sp>
      <p:pic>
        <p:nvPicPr>
          <p:cNvPr id="3" name="Espace réservé du contenu 5">
            <a:extLst>
              <a:ext uri="{FF2B5EF4-FFF2-40B4-BE49-F238E27FC236}">
                <a16:creationId xmlns:a16="http://schemas.microsoft.com/office/drawing/2014/main" id="{879A4BCE-B454-FAD2-379B-6772FAA92BC3}"/>
              </a:ext>
            </a:extLst>
          </p:cNvPr>
          <p:cNvPicPr>
            <a:picLocks noChangeAspect="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l="44331" t="20549" r="948" b="15065"/>
          <a:stretch>
            <a:fillRect/>
          </a:stretch>
        </p:blipFill>
        <p:spPr>
          <a:xfrm>
            <a:off x="605005" y="1689769"/>
            <a:ext cx="8245380" cy="4257199"/>
          </a:xfrm>
          <a:prstGeom prst="rect">
            <a:avLst/>
          </a:prstGeom>
          <a:ln>
            <a:noFill/>
          </a:ln>
          <a:effectLst>
            <a:softEdge rad="112500"/>
          </a:effectLst>
        </p:spPr>
      </p:pic>
    </p:spTree>
    <p:extLst>
      <p:ext uri="{BB962C8B-B14F-4D97-AF65-F5344CB8AC3E}">
        <p14:creationId xmlns:p14="http://schemas.microsoft.com/office/powerpoint/2010/main" val="3871154375"/>
      </p:ext>
    </p:extLst>
  </p:cSld>
  <p:clrMapOvr>
    <a:masterClrMapping/>
  </p:clrMapOvr>
  <p:transition spd="med">
    <p:pull/>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700D30F-C072-9904-EF27-56DF6D7D5318}"/>
              </a:ext>
            </a:extLst>
          </p:cNvPr>
          <p:cNvSpPr>
            <a:spLocks noGrp="1"/>
          </p:cNvSpPr>
          <p:nvPr>
            <p:ph type="title"/>
          </p:nvPr>
        </p:nvSpPr>
        <p:spPr>
          <a:xfrm>
            <a:off x="677334" y="609600"/>
            <a:ext cx="8596668" cy="622434"/>
          </a:xfrm>
        </p:spPr>
        <p:txBody>
          <a:bodyPr>
            <a:normAutofit fontScale="90000"/>
          </a:bodyPr>
          <a:lstStyle/>
          <a:p>
            <a:pPr algn="ctr"/>
            <a:r>
              <a:rPr lang="fr-FR" dirty="0"/>
              <a:t>CONCLUSION</a:t>
            </a:r>
            <a:br>
              <a:rPr lang="fr-FR" dirty="0"/>
            </a:br>
            <a:endParaRPr lang="fr-FR" dirty="0"/>
          </a:p>
        </p:txBody>
      </p:sp>
      <p:sp>
        <p:nvSpPr>
          <p:cNvPr id="3" name="Espace réservé du contenu 2">
            <a:extLst>
              <a:ext uri="{FF2B5EF4-FFF2-40B4-BE49-F238E27FC236}">
                <a16:creationId xmlns:a16="http://schemas.microsoft.com/office/drawing/2014/main" id="{3C841756-17AA-8ADB-B80A-74BA91197917}"/>
              </a:ext>
            </a:extLst>
          </p:cNvPr>
          <p:cNvSpPr>
            <a:spLocks noGrp="1"/>
          </p:cNvSpPr>
          <p:nvPr>
            <p:ph idx="1"/>
          </p:nvPr>
        </p:nvSpPr>
        <p:spPr>
          <a:xfrm>
            <a:off x="404261" y="1482291"/>
            <a:ext cx="8941870" cy="2598821"/>
          </a:xfrm>
        </p:spPr>
        <p:txBody>
          <a:bodyPr/>
          <a:lstStyle/>
          <a:p>
            <a:pPr marL="0" indent="0" algn="just">
              <a:buNone/>
            </a:pPr>
            <a:r>
              <a:rPr lang="fr-FR" dirty="0"/>
              <a:t>      </a:t>
            </a:r>
            <a:r>
              <a:rPr lang="fr-FR" dirty="0">
                <a:latin typeface="Arial" panose="020B0604020202020204" pitchFamily="34" charset="0"/>
                <a:cs typeface="Arial" panose="020B0604020202020204" pitchFamily="34" charset="0"/>
              </a:rPr>
              <a:t>La gestion d’une crise numérique militaire en temps réel représente un défi stratégique majeur. Face à des menaces rapides et complexes, seule une approche intégrée combinant technologie ,compétences humaines et coopération internationale permet de protéger efficacement les Etats et leur souveraineté numérique. L’avenir de cette gestion repose donc sur </a:t>
            </a:r>
            <a:r>
              <a:rPr lang="fr-FR" b="1" dirty="0">
                <a:latin typeface="Arial" panose="020B0604020202020204" pitchFamily="34" charset="0"/>
                <a:cs typeface="Arial" panose="020B0604020202020204" pitchFamily="34" charset="0"/>
              </a:rPr>
              <a:t>l’innovation technologique </a:t>
            </a:r>
            <a:r>
              <a:rPr lang="fr-FR" dirty="0">
                <a:latin typeface="Arial" panose="020B0604020202020204" pitchFamily="34" charset="0"/>
                <a:cs typeface="Arial" panose="020B0604020202020204" pitchFamily="34" charset="0"/>
              </a:rPr>
              <a:t>et </a:t>
            </a:r>
            <a:r>
              <a:rPr lang="fr-FR" b="1" dirty="0">
                <a:latin typeface="Arial" panose="020B0604020202020204" pitchFamily="34" charset="0"/>
                <a:cs typeface="Arial" panose="020B0604020202020204" pitchFamily="34" charset="0"/>
              </a:rPr>
              <a:t>l’Intelligence Artificielle</a:t>
            </a:r>
            <a:r>
              <a:rPr lang="fr-FR" dirty="0"/>
              <a:t>.</a:t>
            </a:r>
          </a:p>
        </p:txBody>
      </p:sp>
      <p:sp>
        <p:nvSpPr>
          <p:cNvPr id="4" name="Espace réservé du numéro de diapositive 3">
            <a:extLst>
              <a:ext uri="{FF2B5EF4-FFF2-40B4-BE49-F238E27FC236}">
                <a16:creationId xmlns:a16="http://schemas.microsoft.com/office/drawing/2014/main" id="{50A1EE70-B49F-3A87-644F-1E469469C2BD}"/>
              </a:ext>
            </a:extLst>
          </p:cNvPr>
          <p:cNvSpPr>
            <a:spLocks noGrp="1"/>
          </p:cNvSpPr>
          <p:nvPr>
            <p:ph type="sldNum" sz="quarter" idx="12"/>
          </p:nvPr>
        </p:nvSpPr>
        <p:spPr/>
        <p:txBody>
          <a:bodyPr/>
          <a:lstStyle/>
          <a:p>
            <a:fld id="{C4AF52E9-3E9B-4A4D-861E-9A50039B3D29}" type="slidenum">
              <a:rPr lang="fr-FR" sz="1600" smtClean="0">
                <a:solidFill>
                  <a:schemeClr val="tx1"/>
                </a:solidFill>
                <a:latin typeface="Arial" panose="020B0604020202020204" pitchFamily="34" charset="0"/>
                <a:cs typeface="Arial" panose="020B0604020202020204" pitchFamily="34" charset="0"/>
              </a:rPr>
              <a:t>14</a:t>
            </a:fld>
            <a:endParaRPr lang="fr-FR" sz="16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5795562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4A1441D4-C463-1361-7E48-1783C90F46FA}"/>
              </a:ext>
            </a:extLst>
          </p:cNvPr>
          <p:cNvSpPr>
            <a:spLocks noGrp="1"/>
          </p:cNvSpPr>
          <p:nvPr>
            <p:ph type="sldNum" sz="quarter" idx="12"/>
          </p:nvPr>
        </p:nvSpPr>
        <p:spPr/>
        <p:txBody>
          <a:bodyPr/>
          <a:lstStyle/>
          <a:p>
            <a:fld id="{C4AF52E9-3E9B-4A4D-861E-9A50039B3D29}" type="slidenum">
              <a:rPr lang="fr-FR" smtClean="0"/>
              <a:t>15</a:t>
            </a:fld>
            <a:endParaRPr lang="fr-FR"/>
          </a:p>
        </p:txBody>
      </p:sp>
      <p:sp>
        <p:nvSpPr>
          <p:cNvPr id="2" name="Rectangle 1">
            <a:extLst>
              <a:ext uri="{FF2B5EF4-FFF2-40B4-BE49-F238E27FC236}">
                <a16:creationId xmlns:a16="http://schemas.microsoft.com/office/drawing/2014/main" id="{DE5D4399-7260-4ACB-A0B6-AA7049F1D702}"/>
              </a:ext>
            </a:extLst>
          </p:cNvPr>
          <p:cNvSpPr/>
          <p:nvPr/>
        </p:nvSpPr>
        <p:spPr>
          <a:xfrm>
            <a:off x="1753300" y="1784488"/>
            <a:ext cx="7520702" cy="1754326"/>
          </a:xfrm>
          <a:prstGeom prst="rect">
            <a:avLst/>
          </a:prstGeom>
          <a:noFill/>
        </p:spPr>
        <p:txBody>
          <a:bodyPr wrap="square" lIns="91440" tIns="45720" rIns="91440" bIns="45720">
            <a:spAutoFit/>
          </a:bodyPr>
          <a:lstStyle/>
          <a:p>
            <a:pPr algn="ctr"/>
            <a:r>
              <a:rPr lang="fr-FR"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Times New Roman" panose="02020603050405020304" pitchFamily="18" charset="0"/>
                <a:cs typeface="Times New Roman" panose="02020603050405020304" pitchFamily="18" charset="0"/>
              </a:rPr>
              <a:t>Merci pour votre aimable attention !!!</a:t>
            </a:r>
            <a:endParaRPr lang="fr-FR"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Tree>
    <p:extLst>
      <p:ext uri="{BB962C8B-B14F-4D97-AF65-F5344CB8AC3E}">
        <p14:creationId xmlns:p14="http://schemas.microsoft.com/office/powerpoint/2010/main" val="97342054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theme/theme1.xml><?xml version="1.0" encoding="utf-8"?>
<a:theme xmlns:a="http://schemas.openxmlformats.org/drawingml/2006/main" name="Facette">
  <a:themeElements>
    <a:clrScheme name="Facette">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te">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te">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1601</TotalTime>
  <Words>875</Words>
  <Application>Microsoft Office PowerPoint</Application>
  <PresentationFormat>Grand écran</PresentationFormat>
  <Paragraphs>91</Paragraphs>
  <Slides>15</Slides>
  <Notes>0</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15</vt:i4>
      </vt:variant>
    </vt:vector>
  </HeadingPairs>
  <TitlesOfParts>
    <vt:vector size="22" baseType="lpstr">
      <vt:lpstr>Arial</vt:lpstr>
      <vt:lpstr>Calibri</vt:lpstr>
      <vt:lpstr>Times New Roman</vt:lpstr>
      <vt:lpstr>Trebuchet MS</vt:lpstr>
      <vt:lpstr>Wingdings</vt:lpstr>
      <vt:lpstr>Wingdings 3</vt:lpstr>
      <vt:lpstr>Facette</vt:lpstr>
      <vt:lpstr>PRESENTATION: SGT NDI JULIETTE </vt:lpstr>
      <vt:lpstr>PLAN DE L’EXPOSE</vt:lpstr>
      <vt:lpstr>INTRODUCTION</vt:lpstr>
      <vt:lpstr>COMPRENDRE LA CRISE NUMERIQUE EN TEMPS REEL</vt:lpstr>
      <vt:lpstr>B-Typologies des Crises Numériques Militaires  1/2</vt:lpstr>
      <vt:lpstr>B-Typologies des Crises Numériques Militaires   2/2                                                                      Les types de crises numériques</vt:lpstr>
      <vt:lpstr>C- Acteurs Impliqués dans les Crises Numériques Militaires</vt:lpstr>
      <vt:lpstr>II- LES ENJEUX MAJEURS DE LA GESTION EN TEMPS REEL 1/2</vt:lpstr>
      <vt:lpstr>II- LES ENJEUX MAJEURS DE LA GESTION EN TEMPS REEL 2/2</vt:lpstr>
      <vt:lpstr>B- Les enjeux opérationnels</vt:lpstr>
      <vt:lpstr>                                            C- Les enjeux politiques</vt:lpstr>
      <vt:lpstr>III-L’APPROCHE INTEGREE DANS LA GESTION D’UNE CRISE NUMERIQUE MILITAIRE</vt:lpstr>
      <vt:lpstr>IV-LIMITES ET DEFI DE L’APPROCHE INTEGREE</vt:lpstr>
      <vt:lpstr>CONCLUSION </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EXPOSE DU SGT NDI.J </dc:title>
  <dc:creator>DELL</dc:creator>
  <cp:lastModifiedBy>Marco</cp:lastModifiedBy>
  <cp:revision>69</cp:revision>
  <dcterms:created xsi:type="dcterms:W3CDTF">2026-01-13T08:49:20Z</dcterms:created>
  <dcterms:modified xsi:type="dcterms:W3CDTF">2026-01-26T08:05:37Z</dcterms:modified>
</cp:coreProperties>
</file>